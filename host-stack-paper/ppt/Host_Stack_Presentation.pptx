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59" r:id="rId1"/>
  </p:sldMasterIdLst>
  <p:notesMasterIdLst>
    <p:notesMasterId r:id="rId8"/>
  </p:notesMasterIdLst>
  <p:sldIdLst>
    <p:sldId id="256" r:id="rId2"/>
    <p:sldId id="257" r:id="rId3"/>
    <p:sldId id="258" r:id="rId4"/>
    <p:sldId id="259" r:id="rId5"/>
    <p:sldId id="260" r:id="rId6"/>
    <p:sldId id="261" r:id="rId7"/>
  </p:sldIdLst>
  <p:sldSz cx="12192000" cy="6858000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C780C881-244E-495A-AA88-AEA6F43F6431}">
  <a:tblStyle styleId="{C780C881-244E-495A-AA88-AEA6F43F6431}" styleName="Table_0">
    <a:wholeTbl>
      <a:tcTxStyle b="off" i="off">
        <a:font>
          <a:latin typeface="Calibri"/>
          <a:ea typeface="Calibri"/>
          <a:cs typeface="Calibri"/>
        </a:font>
        <a:schemeClr val="dk1"/>
      </a:tcTxStyle>
      <a:tcStyle>
        <a:tcBdr>
          <a:lef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E8ECF4"/>
          </a:solidFill>
        </a:fill>
      </a:tcStyle>
    </a:wholeTbl>
    <a:band1H>
      <a:tcTxStyle/>
      <a:tcStyle>
        <a:tcBdr/>
        <a:fill>
          <a:solidFill>
            <a:srgbClr val="CFD7E7"/>
          </a:solidFill>
        </a:fill>
      </a:tcStyle>
    </a:band1H>
    <a:band2H>
      <a:tcTxStyle/>
      <a:tcStyle>
        <a:tcBdr/>
      </a:tcStyle>
    </a:band2H>
    <a:band1V>
      <a:tcTxStyle/>
      <a:tcStyle>
        <a:tcBdr/>
        <a:fill>
          <a:solidFill>
            <a:srgbClr val="CFD7E7"/>
          </a:solidFill>
        </a:fill>
      </a:tcStyle>
    </a:band1V>
    <a:band2V>
      <a:tcTxStyle/>
      <a:tcStyle>
        <a:tcBdr/>
      </a:tcStyle>
    </a:band2V>
    <a:lastCol>
      <a:tcTxStyle b="on" i="off">
        <a:font>
          <a:latin typeface="Calibri"/>
          <a:ea typeface="Calibri"/>
          <a:cs typeface="Calibri"/>
        </a:font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 i="off">
        <a:font>
          <a:latin typeface="Calibri"/>
          <a:ea typeface="Calibri"/>
          <a:cs typeface="Calibri"/>
        </a:font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top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</a:tcBdr>
        <a:fill>
          <a:solidFill>
            <a:schemeClr val="accent1"/>
          </a:solidFill>
        </a:fill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bottom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</a:tcBdr>
        <a:fill>
          <a:solidFill>
            <a:schemeClr val="accent1"/>
          </a:solidFill>
        </a:fill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20"/>
    <p:restoredTop sz="94660"/>
  </p:normalViewPr>
  <p:slideViewPr>
    <p:cSldViewPr snapToGrid="0">
      <p:cViewPr varScale="1">
        <p:scale>
          <a:sx n="76" d="100"/>
          <a:sy n="76" d="100"/>
        </p:scale>
        <p:origin x="687" y="45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-1166813" y="0"/>
            <a:ext cx="5334001" cy="30003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  <p:txBody>
          <a:bodyPr/>
          <a:lstStyle/>
          <a:p>
            <a:endParaRPr lang="en-IN"/>
          </a:p>
        </p:txBody>
      </p:sp>
      <p:sp>
        <p:nvSpPr>
          <p:cNvPr id="82" name="Google Shape;82;p1:notes"/>
          <p:cNvSpPr txBox="1">
            <a:spLocks noGrp="1"/>
          </p:cNvSpPr>
          <p:nvPr>
            <p:ph type="body" idx="1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83" name="Google Shape;83;p1:notes"/>
          <p:cNvSpPr txBox="1">
            <a:spLocks noGrp="1"/>
          </p:cNvSpPr>
          <p:nvPr>
            <p:ph type="sldNum" idx="12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-1166813" y="0"/>
            <a:ext cx="5334001" cy="30003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  <p:txBody>
          <a:bodyPr/>
          <a:lstStyle/>
          <a:p>
            <a:endParaRPr lang="en-IN"/>
          </a:p>
        </p:txBody>
      </p:sp>
      <p:sp>
        <p:nvSpPr>
          <p:cNvPr id="93" name="Google Shape;93;p2:notes"/>
          <p:cNvSpPr txBox="1">
            <a:spLocks noGrp="1"/>
          </p:cNvSpPr>
          <p:nvPr>
            <p:ph type="body" idx="1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94" name="Google Shape;94;p2:notes"/>
          <p:cNvSpPr txBox="1">
            <a:spLocks noGrp="1"/>
          </p:cNvSpPr>
          <p:nvPr>
            <p:ph type="sldNum" idx="12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-1166813" y="0"/>
            <a:ext cx="5334001" cy="30003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  <p:txBody>
          <a:bodyPr/>
          <a:lstStyle/>
          <a:p>
            <a:endParaRPr lang="en-IN"/>
          </a:p>
        </p:txBody>
      </p:sp>
      <p:sp>
        <p:nvSpPr>
          <p:cNvPr id="106" name="Google Shape;106;p3:notes"/>
          <p:cNvSpPr txBox="1">
            <a:spLocks noGrp="1"/>
          </p:cNvSpPr>
          <p:nvPr>
            <p:ph type="body" idx="1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07" name="Google Shape;107;p3:notes"/>
          <p:cNvSpPr txBox="1">
            <a:spLocks noGrp="1"/>
          </p:cNvSpPr>
          <p:nvPr>
            <p:ph type="sldNum" idx="12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-1166813" y="0"/>
            <a:ext cx="5334001" cy="30003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  <p:txBody>
          <a:bodyPr/>
          <a:lstStyle/>
          <a:p>
            <a:endParaRPr lang="en-IN"/>
          </a:p>
        </p:txBody>
      </p:sp>
      <p:sp>
        <p:nvSpPr>
          <p:cNvPr id="149" name="Google Shape;149;p4:notes"/>
          <p:cNvSpPr txBox="1">
            <a:spLocks noGrp="1"/>
          </p:cNvSpPr>
          <p:nvPr>
            <p:ph type="body" idx="1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50" name="Google Shape;150;p4:notes"/>
          <p:cNvSpPr txBox="1">
            <a:spLocks noGrp="1"/>
          </p:cNvSpPr>
          <p:nvPr>
            <p:ph type="sldNum" idx="12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-1166813" y="0"/>
            <a:ext cx="5334001" cy="30003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  <p:txBody>
          <a:bodyPr/>
          <a:lstStyle/>
          <a:p>
            <a:endParaRPr lang="en-IN"/>
          </a:p>
        </p:txBody>
      </p:sp>
      <p:sp>
        <p:nvSpPr>
          <p:cNvPr id="169" name="Google Shape;169;p5:notes"/>
          <p:cNvSpPr txBox="1">
            <a:spLocks noGrp="1"/>
          </p:cNvSpPr>
          <p:nvPr>
            <p:ph type="body" idx="1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70" name="Google Shape;170;p5:notes"/>
          <p:cNvSpPr txBox="1">
            <a:spLocks noGrp="1"/>
          </p:cNvSpPr>
          <p:nvPr>
            <p:ph type="sldNum" idx="12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Google Shape;177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-1166813" y="0"/>
            <a:ext cx="5334001" cy="30003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  <p:txBody>
          <a:bodyPr/>
          <a:lstStyle/>
          <a:p>
            <a:endParaRPr lang="en-IN"/>
          </a:p>
        </p:txBody>
      </p:sp>
      <p:sp>
        <p:nvSpPr>
          <p:cNvPr id="178" name="Google Shape;178;p6:notes"/>
          <p:cNvSpPr txBox="1">
            <a:spLocks noGrp="1"/>
          </p:cNvSpPr>
          <p:nvPr>
            <p:ph type="body" idx="1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79" name="Google Shape;179;p6:notes"/>
          <p:cNvSpPr txBox="1">
            <a:spLocks noGrp="1"/>
          </p:cNvSpPr>
          <p:nvPr>
            <p:ph type="sldNum" idx="12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" name="Google Shape;13;p2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" name="Google Shape;14;p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3"/>
          <p:cNvSpPr txBox="1"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18" name="Google Shape;18;p3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3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" name="Google Shape;20;p3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4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4" name="Google Shape;24;p4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4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6" name="Google Shape;26;p4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sz="4000" b="1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" name="Google Shape;29;p5"/>
          <p:cNvSpPr txBox="1"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marL="914400" lvl="1" indent="-2286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marL="1371600" lvl="2" indent="-228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marL="1828800" lvl="3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marL="2286000" lvl="4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marL="2743200" lvl="5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marL="3200400" lvl="6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marL="3657600" lvl="7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marL="4114800" lvl="8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30" name="Google Shape;30;p5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5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2" name="Google Shape;32;p5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6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6" name="Google Shape;36;p6"/>
          <p:cNvSpPr txBox="1">
            <a:spLocks noGrp="1"/>
          </p:cNvSpPr>
          <p:nvPr>
            <p:ph type="body" idx="2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7" name="Google Shape;37;p6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6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9" name="Google Shape;39;p6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2" name="Google Shape;42;p7"/>
          <p:cNvSpPr txBox="1"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3" name="Google Shape;43;p7"/>
          <p:cNvSpPr txBox="1">
            <a:spLocks noGrp="1"/>
          </p:cNvSpPr>
          <p:nvPr>
            <p:ph type="body" idx="2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4" name="Google Shape;44;p7"/>
          <p:cNvSpPr txBox="1">
            <a:spLocks noGrp="1"/>
          </p:cNvSpPr>
          <p:nvPr>
            <p:ph type="body" idx="3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5" name="Google Shape;45;p7"/>
          <p:cNvSpPr txBox="1">
            <a:spLocks noGrp="1"/>
          </p:cNvSpPr>
          <p:nvPr>
            <p:ph type="body" idx="4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6" name="Google Shape;46;p7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7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7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1" name="Google Shape;51;p8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8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8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9"/>
          <p:cNvSpPr txBox="1">
            <a:spLocks noGrp="1"/>
          </p:cNvSpPr>
          <p:nvPr>
            <p:ph type="body" idx="1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marL="1371600" lvl="2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marL="2286000" lvl="4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marL="2743200" lvl="5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57" name="Google Shape;57;p9"/>
          <p:cNvSpPr txBox="1">
            <a:spLocks noGrp="1"/>
          </p:cNvSpPr>
          <p:nvPr>
            <p:ph type="body" idx="2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58" name="Google Shape;58;p9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9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9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10"/>
          <p:cNvSpPr>
            <a:spLocks noGrp="1"/>
          </p:cNvSpPr>
          <p:nvPr>
            <p:ph type="pic" idx="2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endParaRPr lang="en-IN"/>
          </a:p>
        </p:txBody>
      </p:sp>
      <p:sp>
        <p:nvSpPr>
          <p:cNvPr id="64" name="Google Shape;64;p10"/>
          <p:cNvSpPr txBox="1">
            <a:spLocks noGrp="1"/>
          </p:cNvSpPr>
          <p:nvPr>
            <p:ph type="body" idx="1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65" name="Google Shape;65;p10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10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10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11"/>
          <p:cNvSpPr txBox="1">
            <a:spLocks noGrp="1"/>
          </p:cNvSpPr>
          <p:nvPr>
            <p:ph type="body" idx="1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1" name="Google Shape;71;p1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11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11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>
            <a:spLocks noGrp="1"/>
          </p:cNvSpPr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12"/>
          <p:cNvSpPr txBox="1">
            <a:spLocks noGrp="1"/>
          </p:cNvSpPr>
          <p:nvPr>
            <p:ph type="body" idx="1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7" name="Google Shape;77;p1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12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1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318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4064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9" name="Google Shape;9;p1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0" name="Google Shape;10;p1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3"/>
          <p:cNvSpPr txBox="1"/>
          <p:nvPr/>
        </p:nvSpPr>
        <p:spPr>
          <a:xfrm>
            <a:off x="457200" y="256032"/>
            <a:ext cx="11247120" cy="6400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18275" rIns="45700" bIns="18275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 b="1" i="0" u="none" strike="noStrike" cap="none">
                <a:solidFill>
                  <a:srgbClr val="0D366B"/>
                </a:solidFill>
                <a:latin typeface="Calibri"/>
                <a:ea typeface="Calibri"/>
                <a:cs typeface="Calibri"/>
                <a:sym typeface="Calibri"/>
              </a:rPr>
              <a:t>Introduction</a:t>
            </a:r>
            <a:endParaRPr/>
          </a:p>
        </p:txBody>
      </p:sp>
      <p:sp>
        <p:nvSpPr>
          <p:cNvPr id="86" name="Google Shape;86;p13"/>
          <p:cNvSpPr/>
          <p:nvPr/>
        </p:nvSpPr>
        <p:spPr>
          <a:xfrm>
            <a:off x="502920" y="932688"/>
            <a:ext cx="1280160" cy="54864"/>
          </a:xfrm>
          <a:prstGeom prst="rect">
            <a:avLst/>
          </a:prstGeom>
          <a:solidFill>
            <a:srgbClr val="2A78D6"/>
          </a:solidFill>
          <a:ln>
            <a:noFill/>
          </a:ln>
          <a:effectLst>
            <a:outerShdw blurRad="40000" dist="23000" dir="5400000" rotWithShape="0">
              <a:srgbClr val="000000">
                <a:alpha val="34902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7" name="Google Shape;87;p13"/>
          <p:cNvSpPr txBox="1"/>
          <p:nvPr/>
        </p:nvSpPr>
        <p:spPr>
          <a:xfrm>
            <a:off x="10789920" y="6419088"/>
            <a:ext cx="9144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18275" rIns="45700" bIns="18275" anchor="t" anchorCtr="0">
            <a:sp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0" i="0" u="none" strike="noStrike" cap="none">
                <a:solidFill>
                  <a:srgbClr val="5A5A5A"/>
                </a:solidFill>
                <a:latin typeface="Calibri"/>
                <a:ea typeface="Calibri"/>
                <a:cs typeface="Calibri"/>
                <a:sym typeface="Calibri"/>
              </a:rPr>
              <a:t>1 / 6</a:t>
            </a:r>
            <a:endParaRPr/>
          </a:p>
        </p:txBody>
      </p:sp>
      <p:sp>
        <p:nvSpPr>
          <p:cNvPr id="88" name="Google Shape;88;p13"/>
          <p:cNvSpPr/>
          <p:nvPr/>
        </p:nvSpPr>
        <p:spPr>
          <a:xfrm>
            <a:off x="502920" y="1325880"/>
            <a:ext cx="11201400" cy="1737360"/>
          </a:xfrm>
          <a:prstGeom prst="roundRect">
            <a:avLst>
              <a:gd name="adj" fmla="val 8000"/>
            </a:avLst>
          </a:prstGeom>
          <a:solidFill>
            <a:srgbClr val="0D366B"/>
          </a:solidFill>
          <a:ln>
            <a:noFill/>
          </a:ln>
        </p:spPr>
        <p:txBody>
          <a:bodyPr spcFirstLastPara="1" wrap="square" lIns="73150" tIns="36575" rIns="73150" bIns="365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6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Understanding Host Network Stack Overheads</a:t>
            </a:r>
            <a:endParaRPr/>
          </a:p>
          <a:p>
            <a:pPr marL="0" marR="0" lvl="0" indent="0" algn="ctr" rtl="0">
              <a:spcBef>
                <a:spcPts val="40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Qizhe Cai, Shubham Chaudhary, Midhul Vuppalapati, Jaehyun Hwang, Rachit Agarwal</a:t>
            </a:r>
            <a:endParaRPr/>
          </a:p>
          <a:p>
            <a:pPr marL="0" marR="0" lvl="0" indent="0" algn="ctr" rtl="0">
              <a:spcBef>
                <a:spcPts val="40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ACM SIGCOMM 2021  ·  reproduced on one laptop</a:t>
            </a:r>
            <a:endParaRPr/>
          </a:p>
        </p:txBody>
      </p:sp>
      <p:sp>
        <p:nvSpPr>
          <p:cNvPr id="89" name="Google Shape;89;p13"/>
          <p:cNvSpPr/>
          <p:nvPr/>
        </p:nvSpPr>
        <p:spPr>
          <a:xfrm>
            <a:off x="502920" y="4114800"/>
            <a:ext cx="5394960" cy="2103120"/>
          </a:xfrm>
          <a:prstGeom prst="roundRect">
            <a:avLst>
              <a:gd name="adj" fmla="val 8000"/>
            </a:avLst>
          </a:prstGeom>
          <a:solidFill>
            <a:srgbClr val="EAF1FB"/>
          </a:solidFill>
          <a:ln w="15875" cap="flat" cmpd="sng">
            <a:solidFill>
              <a:srgbClr val="2A78D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73150" tIns="36575" rIns="73150" bIns="36575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700" b="1" i="0" u="none" strike="noStrike" cap="none" dirty="0">
                <a:solidFill>
                  <a:srgbClr val="0D366B"/>
                </a:solidFill>
                <a:latin typeface="Calibri"/>
                <a:ea typeface="Calibri"/>
                <a:cs typeface="Calibri"/>
                <a:sym typeface="Calibri"/>
              </a:rPr>
              <a:t>What this project is</a:t>
            </a:r>
            <a:endParaRPr dirty="0"/>
          </a:p>
          <a:p>
            <a:pPr marL="0" marR="0" lvl="0" indent="0" algn="l" rtl="0">
              <a:spcBef>
                <a:spcPts val="800"/>
              </a:spcBef>
              <a:spcAft>
                <a:spcPts val="0"/>
              </a:spcAft>
              <a:buNone/>
            </a:pPr>
            <a:r>
              <a:rPr lang="en-US" sz="1400" b="0" i="0" u="none" strike="noStrike" cap="none" dirty="0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• A reproduction of the paper's experiments in software, not a new system.</a:t>
            </a:r>
            <a:endParaRPr dirty="0"/>
          </a:p>
          <a:p>
            <a:pPr marL="0" marR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-US" sz="1400" b="0" i="0" u="none" strike="noStrike" cap="none" dirty="0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• Two virtual hosts in one Linux VM, joined by a virtual cable (</a:t>
            </a:r>
            <a:r>
              <a:rPr lang="en-US" sz="1400" b="0" i="0" u="none" strike="noStrike" cap="none" dirty="0" err="1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veth</a:t>
            </a:r>
            <a:r>
              <a:rPr lang="en-US" sz="1400" b="0" i="0" u="none" strike="noStrike" cap="none" dirty="0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).</a:t>
            </a:r>
            <a:endParaRPr dirty="0"/>
          </a:p>
          <a:p>
            <a:pPr marL="0" marR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-US" sz="1400" b="0" i="0" u="none" strike="noStrike" cap="none" dirty="0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• Same tools as the paper: iperf3, </a:t>
            </a:r>
            <a:r>
              <a:rPr lang="en-US" sz="1400" b="0" i="0" u="none" strike="noStrike" cap="none" dirty="0" err="1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netperf</a:t>
            </a:r>
            <a:r>
              <a:rPr lang="en-US" sz="1400" b="0" i="0" u="none" strike="noStrike" cap="none" dirty="0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, </a:t>
            </a:r>
            <a:r>
              <a:rPr lang="en-US" sz="1400" b="0" i="0" u="none" strike="noStrike" cap="none" dirty="0" err="1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mpstat</a:t>
            </a:r>
            <a:r>
              <a:rPr lang="en-US" sz="1400" b="0" i="0" u="none" strike="noStrike" cap="none" dirty="0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, perf, ss, </a:t>
            </a:r>
            <a:r>
              <a:rPr lang="en-US" sz="1400" b="0" i="0" u="none" strike="noStrike" cap="none" dirty="0" err="1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tc</a:t>
            </a:r>
            <a:r>
              <a:rPr lang="en-US" sz="1400" b="0" i="0" u="none" strike="noStrike" cap="none" dirty="0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.</a:t>
            </a:r>
            <a:endParaRPr dirty="0"/>
          </a:p>
          <a:p>
            <a:pPr marL="0" marR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-US" sz="1400" b="0" i="0" u="none" strike="noStrike" cap="none" dirty="0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• Result: scripts, graphs, a report and a live demo.</a:t>
            </a:r>
            <a:endParaRPr dirty="0"/>
          </a:p>
        </p:txBody>
      </p:sp>
      <p:sp>
        <p:nvSpPr>
          <p:cNvPr id="3" name="Google Shape;89;p13">
            <a:extLst>
              <a:ext uri="{FF2B5EF4-FFF2-40B4-BE49-F238E27FC236}">
                <a16:creationId xmlns:a16="http://schemas.microsoft.com/office/drawing/2014/main" id="{5DC8250F-96A9-C25B-263D-B4DB0BCEDB1F}"/>
              </a:ext>
            </a:extLst>
          </p:cNvPr>
          <p:cNvSpPr/>
          <p:nvPr/>
        </p:nvSpPr>
        <p:spPr>
          <a:xfrm>
            <a:off x="8387255" y="5120640"/>
            <a:ext cx="3430576" cy="1097280"/>
          </a:xfrm>
          <a:prstGeom prst="roundRect">
            <a:avLst>
              <a:gd name="adj" fmla="val 8000"/>
            </a:avLst>
          </a:prstGeom>
          <a:solidFill>
            <a:srgbClr val="EAF1FB"/>
          </a:solidFill>
          <a:ln w="15875" cap="flat" cmpd="sng">
            <a:solidFill>
              <a:srgbClr val="2A78D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73150" tIns="36575" rIns="73150" bIns="36575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700" b="1" dirty="0">
                <a:solidFill>
                  <a:srgbClr val="0D366B"/>
                </a:solidFill>
                <a:latin typeface="Calibri"/>
                <a:ea typeface="Calibri"/>
                <a:cs typeface="Calibri"/>
                <a:sym typeface="Calibri"/>
              </a:rPr>
              <a:t>Presented by:</a:t>
            </a: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700" dirty="0">
                <a:solidFill>
                  <a:schemeClr val="tx1"/>
                </a:solidFill>
                <a:latin typeface="Calibri"/>
                <a:ea typeface="Calibri"/>
                <a:cs typeface="Calibri"/>
                <a:sym typeface="Calibri"/>
              </a:rPr>
              <a:t>Kunal Singh Rathore(23110181)</a:t>
            </a: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700" dirty="0">
                <a:solidFill>
                  <a:schemeClr val="tx1"/>
                </a:solidFill>
                <a:latin typeface="Calibri"/>
                <a:ea typeface="Calibri"/>
                <a:cs typeface="Calibri"/>
                <a:sym typeface="Calibri"/>
              </a:rPr>
              <a:t>Gurudayal Meena(23110125)</a:t>
            </a:r>
            <a:endParaRPr dirty="0">
              <a:solidFill>
                <a:schemeClr val="tx1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14"/>
          <p:cNvSpPr txBox="1"/>
          <p:nvPr/>
        </p:nvSpPr>
        <p:spPr>
          <a:xfrm>
            <a:off x="457200" y="256032"/>
            <a:ext cx="11247120" cy="6400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18275" rIns="45700" bIns="18275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 b="1" i="0" u="none" strike="noStrike" cap="none">
                <a:solidFill>
                  <a:srgbClr val="0D366B"/>
                </a:solidFill>
                <a:latin typeface="Calibri"/>
                <a:ea typeface="Calibri"/>
                <a:cs typeface="Calibri"/>
                <a:sym typeface="Calibri"/>
              </a:rPr>
              <a:t>Problem Statement &amp; Objectives</a:t>
            </a:r>
            <a:endParaRPr/>
          </a:p>
        </p:txBody>
      </p:sp>
      <p:sp>
        <p:nvSpPr>
          <p:cNvPr id="97" name="Google Shape;97;p14"/>
          <p:cNvSpPr/>
          <p:nvPr/>
        </p:nvSpPr>
        <p:spPr>
          <a:xfrm>
            <a:off x="502920" y="932688"/>
            <a:ext cx="1280160" cy="54864"/>
          </a:xfrm>
          <a:prstGeom prst="rect">
            <a:avLst/>
          </a:prstGeom>
          <a:solidFill>
            <a:srgbClr val="2A78D6"/>
          </a:solidFill>
          <a:ln>
            <a:noFill/>
          </a:ln>
          <a:effectLst>
            <a:outerShdw blurRad="40000" dist="23000" dir="5400000" rotWithShape="0">
              <a:srgbClr val="000000">
                <a:alpha val="34902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8" name="Google Shape;98;p14"/>
          <p:cNvSpPr txBox="1"/>
          <p:nvPr/>
        </p:nvSpPr>
        <p:spPr>
          <a:xfrm>
            <a:off x="10789920" y="6419088"/>
            <a:ext cx="9144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18275" rIns="45700" bIns="18275" anchor="t" anchorCtr="0">
            <a:sp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0" i="0" u="none" strike="noStrike" cap="none">
                <a:solidFill>
                  <a:srgbClr val="5A5A5A"/>
                </a:solidFill>
                <a:latin typeface="Calibri"/>
                <a:ea typeface="Calibri"/>
                <a:cs typeface="Calibri"/>
                <a:sym typeface="Calibri"/>
              </a:rPr>
              <a:t>2 / 6</a:t>
            </a:r>
            <a:endParaRPr/>
          </a:p>
        </p:txBody>
      </p:sp>
      <p:sp>
        <p:nvSpPr>
          <p:cNvPr id="99" name="Google Shape;99;p14"/>
          <p:cNvSpPr/>
          <p:nvPr/>
        </p:nvSpPr>
        <p:spPr>
          <a:xfrm>
            <a:off x="502920" y="1325880"/>
            <a:ext cx="5486400" cy="457200"/>
          </a:xfrm>
          <a:prstGeom prst="roundRect">
            <a:avLst>
              <a:gd name="adj" fmla="val 8000"/>
            </a:avLst>
          </a:prstGeom>
          <a:solidFill>
            <a:srgbClr val="0D366B"/>
          </a:solidFill>
          <a:ln>
            <a:noFill/>
          </a:ln>
        </p:spPr>
        <p:txBody>
          <a:bodyPr spcFirstLastPara="1" wrap="square" lIns="73150" tIns="36575" rIns="73150" bIns="365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The problem</a:t>
            </a:r>
            <a:endParaRPr/>
          </a:p>
        </p:txBody>
      </p:sp>
      <p:sp>
        <p:nvSpPr>
          <p:cNvPr id="100" name="Google Shape;100;p14"/>
          <p:cNvSpPr txBox="1"/>
          <p:nvPr/>
        </p:nvSpPr>
        <p:spPr>
          <a:xfrm>
            <a:off x="548640" y="1874519"/>
            <a:ext cx="5394960" cy="274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18275" rIns="45700" bIns="18275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• Links got ~10× faster </a:t>
            </a:r>
            <a:r>
              <a:rPr lang="en-US" sz="1800" b="0" i="0" u="none" strike="noStrike" cap="non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(10 → 100 Gbps), CPU cores did not.</a:t>
            </a:r>
            <a:endParaRPr/>
          </a:p>
          <a:p>
            <a:pPr marL="0" marR="0" lvl="0" indent="0" algn="l" rtl="0">
              <a:spcBef>
                <a:spcPts val="100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• </a:t>
            </a:r>
            <a:r>
              <a:rPr lang="en-US" sz="1800" b="1" i="0" u="none" strike="noStrike" cap="non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The host CPU</a:t>
            </a:r>
            <a:r>
              <a:rPr lang="en-US" sz="1800" b="0" i="0" u="none" strike="noStrike" cap="non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 is now the bottleneck, not the network.</a:t>
            </a:r>
            <a:endParaRPr/>
          </a:p>
          <a:p>
            <a:pPr marL="0" marR="0" lvl="0" indent="0" algn="l" rtl="0">
              <a:spcBef>
                <a:spcPts val="100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• Paper: one core moves only </a:t>
            </a:r>
            <a:r>
              <a:rPr lang="en-US" sz="1800" b="1" i="0" u="none" strike="noStrike" cap="non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~42 Gbps</a:t>
            </a:r>
            <a:r>
              <a:rPr lang="en-US" sz="1800" b="0" i="0" u="none" strike="noStrike" cap="non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; the biggest cost is </a:t>
            </a:r>
            <a:r>
              <a:rPr lang="en-US" sz="1800" b="1" i="0" u="none" strike="noStrike" cap="non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copying data</a:t>
            </a:r>
            <a:r>
              <a:rPr lang="en-US" sz="1800" b="0" i="0" u="none" strike="noStrike" cap="non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.</a:t>
            </a:r>
            <a:endParaRPr/>
          </a:p>
          <a:p>
            <a:pPr marL="0" marR="0" lvl="0" indent="0" algn="l" rtl="0">
              <a:spcBef>
                <a:spcPts val="100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• Key metric: </a:t>
            </a:r>
            <a:r>
              <a:rPr lang="en-US" sz="1800" b="1" i="0" u="none" strike="noStrike" cap="non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throughput per core</a:t>
            </a:r>
            <a:r>
              <a:rPr lang="en-US" sz="1800" b="0" i="0" u="none" strike="noStrike" cap="non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 = Gbps ÷ CPU cores busy.</a:t>
            </a:r>
            <a:endParaRPr/>
          </a:p>
        </p:txBody>
      </p:sp>
      <p:sp>
        <p:nvSpPr>
          <p:cNvPr id="101" name="Google Shape;101;p14"/>
          <p:cNvSpPr/>
          <p:nvPr/>
        </p:nvSpPr>
        <p:spPr>
          <a:xfrm>
            <a:off x="6263640" y="1325880"/>
            <a:ext cx="5440680" cy="457200"/>
          </a:xfrm>
          <a:prstGeom prst="roundRect">
            <a:avLst>
              <a:gd name="adj" fmla="val 8000"/>
            </a:avLst>
          </a:prstGeom>
          <a:solidFill>
            <a:srgbClr val="2A78D6"/>
          </a:solidFill>
          <a:ln>
            <a:noFill/>
          </a:ln>
        </p:spPr>
        <p:txBody>
          <a:bodyPr spcFirstLastPara="1" wrap="square" lIns="73150" tIns="36575" rIns="73150" bIns="365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Our objectives</a:t>
            </a:r>
            <a:endParaRPr/>
          </a:p>
        </p:txBody>
      </p:sp>
      <p:sp>
        <p:nvSpPr>
          <p:cNvPr id="102" name="Google Shape;102;p14"/>
          <p:cNvSpPr txBox="1"/>
          <p:nvPr/>
        </p:nvSpPr>
        <p:spPr>
          <a:xfrm>
            <a:off x="6309360" y="1874519"/>
            <a:ext cx="5394960" cy="274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18275" rIns="45700" bIns="18275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1. Reproduce</a:t>
            </a:r>
            <a:r>
              <a:rPr lang="en-US" sz="1800" b="0" i="0" u="none" strike="noStrike" cap="non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 the paper's experiments on one laptop.</a:t>
            </a:r>
            <a:endParaRPr/>
          </a:p>
          <a:p>
            <a:pPr marL="0" marR="0" lvl="0" indent="0" algn="l" rtl="0">
              <a:spcBef>
                <a:spcPts val="1000"/>
              </a:spcBef>
              <a:spcAft>
                <a:spcPts val="0"/>
              </a:spcAft>
              <a:buNone/>
            </a:pPr>
            <a:r>
              <a:rPr lang="en-US" sz="1800" b="1" i="0" u="none" strike="noStrike" cap="non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2. Measure</a:t>
            </a:r>
            <a:r>
              <a:rPr lang="en-US" sz="1800" b="0" i="0" u="none" strike="noStrike" cap="non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 the paper's metric: throughput per CPU core.</a:t>
            </a:r>
            <a:endParaRPr/>
          </a:p>
          <a:p>
            <a:pPr marL="0" marR="0" lvl="0" indent="0" algn="l" rtl="0">
              <a:spcBef>
                <a:spcPts val="1000"/>
              </a:spcBef>
              <a:spcAft>
                <a:spcPts val="0"/>
              </a:spcAft>
              <a:buNone/>
            </a:pPr>
            <a:r>
              <a:rPr lang="en-US" sz="1800" b="1" i="0" u="none" strike="noStrike" cap="non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3. Show</a:t>
            </a:r>
            <a:r>
              <a:rPr lang="en-US" sz="1800" b="0" i="0" u="none" strike="noStrike" cap="non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 which kernel features and traffic patterns cost CPU.</a:t>
            </a:r>
            <a:endParaRPr/>
          </a:p>
          <a:p>
            <a:pPr marL="0" marR="0" lvl="0" indent="0" algn="l" rtl="0">
              <a:spcBef>
                <a:spcPts val="1000"/>
              </a:spcBef>
              <a:spcAft>
                <a:spcPts val="0"/>
              </a:spcAft>
              <a:buNone/>
            </a:pPr>
            <a:r>
              <a:rPr lang="en-US" sz="1800" b="1" i="0" u="none" strike="noStrike" cap="non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4. Fix and automate</a:t>
            </a:r>
            <a:r>
              <a:rPr lang="en-US" sz="1800" b="0" i="0" u="none" strike="noStrike" cap="non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 our first version (scripts, checks, report).</a:t>
            </a:r>
            <a:endParaRPr/>
          </a:p>
        </p:txBody>
      </p:sp>
      <p:sp>
        <p:nvSpPr>
          <p:cNvPr id="103" name="Google Shape;103;p14"/>
          <p:cNvSpPr/>
          <p:nvPr/>
        </p:nvSpPr>
        <p:spPr>
          <a:xfrm>
            <a:off x="502920" y="4572000"/>
            <a:ext cx="11201400" cy="1600200"/>
          </a:xfrm>
          <a:prstGeom prst="roundRect">
            <a:avLst>
              <a:gd name="adj" fmla="val 8000"/>
            </a:avLst>
          </a:prstGeom>
          <a:solidFill>
            <a:srgbClr val="ECF8F2"/>
          </a:solidFill>
          <a:ln w="15875" cap="flat" cmpd="sng">
            <a:solidFill>
              <a:srgbClr val="1B8F6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73150" tIns="36575" rIns="73150" bIns="36575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 i="0" u="none" strike="noStrike" cap="non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Why one laptop instead of two?  </a:t>
            </a:r>
            <a:r>
              <a:rPr lang="en-US" sz="1600" b="0" i="0" u="none" strike="noStrike" cap="non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Laptop networks run at ~1 Gbps: the link would be full while the CPU is almost idle (≈ 1.6 % of one core per Gbps in our runs). </a:t>
            </a:r>
            <a:endParaRPr/>
          </a:p>
          <a:p>
            <a:pPr marL="0" marR="0" lvl="0" indent="0" algn="l" rtl="0">
              <a:spcBef>
                <a:spcPts val="400"/>
              </a:spcBef>
              <a:spcAft>
                <a:spcPts val="0"/>
              </a:spcAft>
              <a:buNone/>
            </a:pPr>
            <a:r>
              <a:rPr lang="en-US" sz="1600" b="0" i="0" u="none" strike="noStrike" cap="non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A virtual cable (veth) has no speed limit, so the CPU becomes the bottleneck, just like the paper's 100 Gbps testbed.  </a:t>
            </a:r>
            <a:r>
              <a:rPr lang="en-US" sz="1600" b="1" i="0" u="none" strike="noStrike" cap="non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Scope: 8 of the paper's 10 experiment sections </a:t>
            </a:r>
            <a:r>
              <a:rPr lang="en-US" sz="1600" b="0" i="0" u="none" strike="noStrike" cap="non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(§3.8 DDIO and §3.9 IOMMU need server hardware).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15"/>
          <p:cNvSpPr txBox="1"/>
          <p:nvPr/>
        </p:nvSpPr>
        <p:spPr>
          <a:xfrm>
            <a:off x="457200" y="256032"/>
            <a:ext cx="11247120" cy="6400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18275" rIns="45700" bIns="18275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 b="1" i="0" u="none" strike="noStrike" cap="none">
                <a:solidFill>
                  <a:srgbClr val="0D366B"/>
                </a:solidFill>
                <a:latin typeface="Calibri"/>
                <a:ea typeface="Calibri"/>
                <a:cs typeface="Calibri"/>
                <a:sym typeface="Calibri"/>
              </a:rPr>
              <a:t>Architecture / Mechanism</a:t>
            </a:r>
            <a:endParaRPr/>
          </a:p>
        </p:txBody>
      </p:sp>
      <p:sp>
        <p:nvSpPr>
          <p:cNvPr id="110" name="Google Shape;110;p15"/>
          <p:cNvSpPr/>
          <p:nvPr/>
        </p:nvSpPr>
        <p:spPr>
          <a:xfrm>
            <a:off x="502920" y="932688"/>
            <a:ext cx="1280160" cy="54864"/>
          </a:xfrm>
          <a:prstGeom prst="rect">
            <a:avLst/>
          </a:prstGeom>
          <a:solidFill>
            <a:srgbClr val="2A78D6"/>
          </a:solidFill>
          <a:ln>
            <a:noFill/>
          </a:ln>
          <a:effectLst>
            <a:outerShdw blurRad="40000" dist="23000" dir="5400000" rotWithShape="0">
              <a:srgbClr val="000000">
                <a:alpha val="34902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1" name="Google Shape;111;p15"/>
          <p:cNvSpPr txBox="1"/>
          <p:nvPr/>
        </p:nvSpPr>
        <p:spPr>
          <a:xfrm>
            <a:off x="10789920" y="6419088"/>
            <a:ext cx="9144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18275" rIns="45700" bIns="18275" anchor="t" anchorCtr="0">
            <a:sp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0" i="0" u="none" strike="noStrike" cap="none">
                <a:solidFill>
                  <a:srgbClr val="5A5A5A"/>
                </a:solidFill>
                <a:latin typeface="Calibri"/>
                <a:ea typeface="Calibri"/>
                <a:cs typeface="Calibri"/>
                <a:sym typeface="Calibri"/>
              </a:rPr>
              <a:t>3 / 6</a:t>
            </a:r>
            <a:endParaRPr/>
          </a:p>
        </p:txBody>
      </p:sp>
      <p:sp>
        <p:nvSpPr>
          <p:cNvPr id="112" name="Google Shape;112;p15"/>
          <p:cNvSpPr/>
          <p:nvPr/>
        </p:nvSpPr>
        <p:spPr>
          <a:xfrm>
            <a:off x="457200" y="1280160"/>
            <a:ext cx="7040880" cy="3246120"/>
          </a:xfrm>
          <a:prstGeom prst="roundRect">
            <a:avLst>
              <a:gd name="adj" fmla="val 8000"/>
            </a:avLst>
          </a:prstGeom>
          <a:solidFill>
            <a:srgbClr val="F4F4F2"/>
          </a:solidFill>
          <a:ln w="15875" cap="flat" cmpd="sng">
            <a:solidFill>
              <a:srgbClr val="BDBCB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73150" tIns="36575" rIns="73150" bIns="365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0" i="0" u="none" strike="noStrike" cap="non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/>
          </a:p>
        </p:txBody>
      </p:sp>
      <p:sp>
        <p:nvSpPr>
          <p:cNvPr id="113" name="Google Shape;113;p15"/>
          <p:cNvSpPr txBox="1"/>
          <p:nvPr/>
        </p:nvSpPr>
        <p:spPr>
          <a:xfrm>
            <a:off x="594360" y="1344168"/>
            <a:ext cx="6766560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18275" rIns="45700" bIns="18275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 b="0" i="0" u="none" strike="noStrike" cap="none">
                <a:solidFill>
                  <a:srgbClr val="5A5A5A"/>
                </a:solidFill>
                <a:latin typeface="Calibri"/>
                <a:ea typeface="Calibri"/>
                <a:cs typeface="Calibri"/>
                <a:sym typeface="Calibri"/>
              </a:rPr>
              <a:t>Laptop → Ubuntu VM (4 vCPUs, one Linux kernel)</a:t>
            </a:r>
            <a:endParaRPr/>
          </a:p>
        </p:txBody>
      </p:sp>
      <p:sp>
        <p:nvSpPr>
          <p:cNvPr id="114" name="Google Shape;114;p15"/>
          <p:cNvSpPr/>
          <p:nvPr/>
        </p:nvSpPr>
        <p:spPr>
          <a:xfrm>
            <a:off x="731520" y="1737360"/>
            <a:ext cx="2651760" cy="1828800"/>
          </a:xfrm>
          <a:prstGeom prst="roundRect">
            <a:avLst>
              <a:gd name="adj" fmla="val 8000"/>
            </a:avLst>
          </a:prstGeom>
          <a:solidFill>
            <a:srgbClr val="EAF1FB"/>
          </a:solidFill>
          <a:ln w="15875" cap="flat" cmpd="sng">
            <a:solidFill>
              <a:srgbClr val="2A78D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73150" tIns="36575" rIns="73150" bIns="365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0" i="0" u="none" strike="noStrike" cap="non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/>
          </a:p>
        </p:txBody>
      </p:sp>
      <p:sp>
        <p:nvSpPr>
          <p:cNvPr id="115" name="Google Shape;115;p15"/>
          <p:cNvSpPr txBox="1"/>
          <p:nvPr/>
        </p:nvSpPr>
        <p:spPr>
          <a:xfrm>
            <a:off x="777240" y="1783080"/>
            <a:ext cx="2560320" cy="548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18275" rIns="45700" bIns="18275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700" b="1" i="0" u="none" strike="noStrike" cap="non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Sender host</a:t>
            </a:r>
            <a:endParaRPr/>
          </a:p>
          <a:p>
            <a:pPr marL="0" marR="0" lvl="0" indent="0" algn="ctr" rtl="0">
              <a:spcBef>
                <a:spcPts val="40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5A5A5A"/>
                </a:solidFill>
                <a:latin typeface="Calibri"/>
                <a:ea typeface="Calibri"/>
                <a:cs typeface="Calibri"/>
                <a:sym typeface="Calibri"/>
              </a:rPr>
              <a:t>network namespace</a:t>
            </a:r>
            <a:endParaRPr/>
          </a:p>
        </p:txBody>
      </p:sp>
      <p:sp>
        <p:nvSpPr>
          <p:cNvPr id="116" name="Google Shape;116;p15"/>
          <p:cNvSpPr/>
          <p:nvPr/>
        </p:nvSpPr>
        <p:spPr>
          <a:xfrm>
            <a:off x="914400" y="2423160"/>
            <a:ext cx="1051560" cy="411480"/>
          </a:xfrm>
          <a:prstGeom prst="roundRect">
            <a:avLst>
              <a:gd name="adj" fmla="val 8000"/>
            </a:avLst>
          </a:prstGeom>
          <a:solidFill>
            <a:srgbClr val="2A78D6"/>
          </a:solidFill>
          <a:ln>
            <a:noFill/>
          </a:ln>
        </p:spPr>
        <p:txBody>
          <a:bodyPr spcFirstLastPara="1" wrap="square" lIns="73150" tIns="36575" rIns="73150" bIns="365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CPU0</a:t>
            </a:r>
            <a:endParaRPr/>
          </a:p>
        </p:txBody>
      </p:sp>
      <p:sp>
        <p:nvSpPr>
          <p:cNvPr id="117" name="Google Shape;117;p15"/>
          <p:cNvSpPr/>
          <p:nvPr/>
        </p:nvSpPr>
        <p:spPr>
          <a:xfrm>
            <a:off x="2103120" y="2423160"/>
            <a:ext cx="1051560" cy="411480"/>
          </a:xfrm>
          <a:prstGeom prst="roundRect">
            <a:avLst>
              <a:gd name="adj" fmla="val 8000"/>
            </a:avLst>
          </a:prstGeom>
          <a:solidFill>
            <a:srgbClr val="2A78D6"/>
          </a:solidFill>
          <a:ln>
            <a:noFill/>
          </a:ln>
        </p:spPr>
        <p:txBody>
          <a:bodyPr spcFirstLastPara="1" wrap="square" lIns="73150" tIns="36575" rIns="73150" bIns="365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CPU1</a:t>
            </a:r>
            <a:endParaRPr/>
          </a:p>
        </p:txBody>
      </p:sp>
      <p:sp>
        <p:nvSpPr>
          <p:cNvPr id="118" name="Google Shape;118;p15"/>
          <p:cNvSpPr txBox="1"/>
          <p:nvPr/>
        </p:nvSpPr>
        <p:spPr>
          <a:xfrm>
            <a:off x="777240" y="2926080"/>
            <a:ext cx="2560320" cy="548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18275" rIns="45700" bIns="18275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 b="0" i="0" u="none" strike="noStrike" cap="non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iperf3 / netperf clients</a:t>
            </a:r>
            <a:endParaRPr/>
          </a:p>
        </p:txBody>
      </p:sp>
      <p:sp>
        <p:nvSpPr>
          <p:cNvPr id="119" name="Google Shape;119;p15"/>
          <p:cNvSpPr/>
          <p:nvPr/>
        </p:nvSpPr>
        <p:spPr>
          <a:xfrm>
            <a:off x="4572000" y="1737360"/>
            <a:ext cx="2651760" cy="1828800"/>
          </a:xfrm>
          <a:prstGeom prst="roundRect">
            <a:avLst>
              <a:gd name="adj" fmla="val 8000"/>
            </a:avLst>
          </a:prstGeom>
          <a:solidFill>
            <a:srgbClr val="FDF1EC"/>
          </a:solidFill>
          <a:ln w="15875" cap="flat" cmpd="sng">
            <a:solidFill>
              <a:srgbClr val="EB683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73150" tIns="36575" rIns="73150" bIns="365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0" i="0" u="none" strike="noStrike" cap="non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/>
          </a:p>
        </p:txBody>
      </p:sp>
      <p:sp>
        <p:nvSpPr>
          <p:cNvPr id="120" name="Google Shape;120;p15"/>
          <p:cNvSpPr txBox="1"/>
          <p:nvPr/>
        </p:nvSpPr>
        <p:spPr>
          <a:xfrm>
            <a:off x="4617720" y="1783080"/>
            <a:ext cx="2560320" cy="548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18275" rIns="45700" bIns="18275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700" b="1" i="0" u="none" strike="noStrike" cap="non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Receiver host</a:t>
            </a:r>
            <a:endParaRPr/>
          </a:p>
          <a:p>
            <a:pPr marL="0" marR="0" lvl="0" indent="0" algn="ctr" rtl="0">
              <a:spcBef>
                <a:spcPts val="40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5A5A5A"/>
                </a:solidFill>
                <a:latin typeface="Calibri"/>
                <a:ea typeface="Calibri"/>
                <a:cs typeface="Calibri"/>
                <a:sym typeface="Calibri"/>
              </a:rPr>
              <a:t>network namespace</a:t>
            </a:r>
            <a:endParaRPr/>
          </a:p>
        </p:txBody>
      </p:sp>
      <p:sp>
        <p:nvSpPr>
          <p:cNvPr id="121" name="Google Shape;121;p15"/>
          <p:cNvSpPr/>
          <p:nvPr/>
        </p:nvSpPr>
        <p:spPr>
          <a:xfrm>
            <a:off x="4754880" y="2423160"/>
            <a:ext cx="1051560" cy="411480"/>
          </a:xfrm>
          <a:prstGeom prst="roundRect">
            <a:avLst>
              <a:gd name="adj" fmla="val 8000"/>
            </a:avLst>
          </a:prstGeom>
          <a:solidFill>
            <a:srgbClr val="EB6834"/>
          </a:solidFill>
          <a:ln>
            <a:noFill/>
          </a:ln>
        </p:spPr>
        <p:txBody>
          <a:bodyPr spcFirstLastPara="1" wrap="square" lIns="73150" tIns="36575" rIns="73150" bIns="365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CPU2</a:t>
            </a:r>
            <a:endParaRPr/>
          </a:p>
        </p:txBody>
      </p:sp>
      <p:sp>
        <p:nvSpPr>
          <p:cNvPr id="122" name="Google Shape;122;p15"/>
          <p:cNvSpPr/>
          <p:nvPr/>
        </p:nvSpPr>
        <p:spPr>
          <a:xfrm>
            <a:off x="5943600" y="2423160"/>
            <a:ext cx="1051560" cy="411480"/>
          </a:xfrm>
          <a:prstGeom prst="roundRect">
            <a:avLst>
              <a:gd name="adj" fmla="val 8000"/>
            </a:avLst>
          </a:prstGeom>
          <a:solidFill>
            <a:srgbClr val="EB6834"/>
          </a:solidFill>
          <a:ln>
            <a:noFill/>
          </a:ln>
        </p:spPr>
        <p:txBody>
          <a:bodyPr spcFirstLastPara="1" wrap="square" lIns="73150" tIns="36575" rIns="73150" bIns="365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CPU3</a:t>
            </a:r>
            <a:endParaRPr/>
          </a:p>
        </p:txBody>
      </p:sp>
      <p:sp>
        <p:nvSpPr>
          <p:cNvPr id="123" name="Google Shape;123;p15"/>
          <p:cNvSpPr txBox="1"/>
          <p:nvPr/>
        </p:nvSpPr>
        <p:spPr>
          <a:xfrm>
            <a:off x="4617720" y="2926080"/>
            <a:ext cx="2560320" cy="548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18275" rIns="45700" bIns="18275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 b="0" i="0" u="none" strike="noStrike" cap="non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iperf3 / netperf servers</a:t>
            </a:r>
            <a:endParaRPr/>
          </a:p>
        </p:txBody>
      </p:sp>
      <p:sp>
        <p:nvSpPr>
          <p:cNvPr id="124" name="Google Shape;124;p15"/>
          <p:cNvSpPr/>
          <p:nvPr/>
        </p:nvSpPr>
        <p:spPr>
          <a:xfrm>
            <a:off x="3429000" y="2395728"/>
            <a:ext cx="1097280" cy="457200"/>
          </a:xfrm>
          <a:prstGeom prst="leftRightArrow">
            <a:avLst>
              <a:gd name="adj1" fmla="val 50000"/>
              <a:gd name="adj2" fmla="val 50000"/>
            </a:avLst>
          </a:prstGeom>
          <a:solidFill>
            <a:srgbClr val="0D366B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5" name="Google Shape;125;p15"/>
          <p:cNvSpPr txBox="1"/>
          <p:nvPr/>
        </p:nvSpPr>
        <p:spPr>
          <a:xfrm>
            <a:off x="3383280" y="2880360"/>
            <a:ext cx="1280160" cy="5960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18275" rIns="45700" bIns="18275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1" i="0" u="none" strike="noStrike" cap="none" dirty="0" err="1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veth</a:t>
            </a:r>
            <a:r>
              <a:rPr lang="en-US" sz="1100" b="1" i="0" u="none" strike="noStrike" cap="none" dirty="0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 pair</a:t>
            </a:r>
            <a:endParaRPr dirty="0"/>
          </a:p>
          <a:p>
            <a:pPr marL="0" marR="0" lvl="0" indent="0" algn="ctr" rtl="0">
              <a:spcBef>
                <a:spcPts val="400"/>
              </a:spcBef>
              <a:spcAft>
                <a:spcPts val="0"/>
              </a:spcAft>
              <a:buNone/>
            </a:pPr>
            <a:r>
              <a:rPr lang="en-US" sz="1100" b="0" i="0" u="none" strike="noStrike" cap="none" dirty="0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virtual cable, no speed limit</a:t>
            </a:r>
            <a:endParaRPr dirty="0"/>
          </a:p>
        </p:txBody>
      </p:sp>
      <p:sp>
        <p:nvSpPr>
          <p:cNvPr id="126" name="Google Shape;126;p15"/>
          <p:cNvSpPr/>
          <p:nvPr/>
        </p:nvSpPr>
        <p:spPr>
          <a:xfrm>
            <a:off x="731520" y="3703320"/>
            <a:ext cx="2103120" cy="6858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 cap="flat" cmpd="sng">
            <a:solidFill>
              <a:srgbClr val="BDBCB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73150" tIns="36575" rIns="73150" bIns="365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 b="1" i="0" u="none" strike="noStrike" cap="non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mpstat</a:t>
            </a:r>
            <a:endParaRPr/>
          </a:p>
          <a:p>
            <a:pPr marL="0" marR="0" lvl="0" indent="0" algn="ctr" rtl="0">
              <a:spcBef>
                <a:spcPts val="400"/>
              </a:spcBef>
              <a:spcAft>
                <a:spcPts val="0"/>
              </a:spcAft>
              <a:buNone/>
            </a:pPr>
            <a:r>
              <a:rPr lang="en-US" sz="1100" b="0" i="0" u="none" strike="noStrike" cap="non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busy % of every CPU, each second</a:t>
            </a:r>
            <a:endParaRPr/>
          </a:p>
        </p:txBody>
      </p:sp>
      <p:sp>
        <p:nvSpPr>
          <p:cNvPr id="127" name="Google Shape;127;p15"/>
          <p:cNvSpPr/>
          <p:nvPr/>
        </p:nvSpPr>
        <p:spPr>
          <a:xfrm>
            <a:off x="2953512" y="3703320"/>
            <a:ext cx="2103120" cy="6858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 cap="flat" cmpd="sng">
            <a:solidFill>
              <a:srgbClr val="BDBCB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73150" tIns="36575" rIns="73150" bIns="365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 b="1" i="0" u="none" strike="noStrike" cap="non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perf</a:t>
            </a:r>
            <a:endParaRPr/>
          </a:p>
          <a:p>
            <a:pPr marL="0" marR="0" lvl="0" indent="0" algn="ctr" rtl="0">
              <a:spcBef>
                <a:spcPts val="400"/>
              </a:spcBef>
              <a:spcAft>
                <a:spcPts val="0"/>
              </a:spcAft>
              <a:buNone/>
            </a:pPr>
            <a:r>
              <a:rPr lang="en-US" sz="1100" b="0" i="0" u="none" strike="noStrike" cap="non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which kernel functions use the CPU</a:t>
            </a:r>
            <a:endParaRPr/>
          </a:p>
        </p:txBody>
      </p:sp>
      <p:sp>
        <p:nvSpPr>
          <p:cNvPr id="128" name="Google Shape;128;p15"/>
          <p:cNvSpPr/>
          <p:nvPr/>
        </p:nvSpPr>
        <p:spPr>
          <a:xfrm>
            <a:off x="5175504" y="3703320"/>
            <a:ext cx="2103120" cy="6858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 cap="flat" cmpd="sng">
            <a:solidFill>
              <a:srgbClr val="BDBCB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73150" tIns="36575" rIns="73150" bIns="365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 b="1" i="0" u="none" strike="noStrike" cap="non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ss · nstat · tc</a:t>
            </a:r>
            <a:endParaRPr/>
          </a:p>
          <a:p>
            <a:pPr marL="0" marR="0" lvl="0" indent="0" algn="ctr" rtl="0">
              <a:spcBef>
                <a:spcPts val="400"/>
              </a:spcBef>
              <a:spcAft>
                <a:spcPts val="0"/>
              </a:spcAft>
              <a:buNone/>
            </a:pPr>
            <a:r>
              <a:rPr lang="en-US" sz="1100" b="0" i="0" u="none" strike="noStrike" cap="non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TCP state, counters, packet loss</a:t>
            </a:r>
            <a:endParaRPr/>
          </a:p>
        </p:txBody>
      </p:sp>
      <p:sp>
        <p:nvSpPr>
          <p:cNvPr id="129" name="Google Shape;129;p15"/>
          <p:cNvSpPr/>
          <p:nvPr/>
        </p:nvSpPr>
        <p:spPr>
          <a:xfrm>
            <a:off x="7772400" y="1280160"/>
            <a:ext cx="3931920" cy="411480"/>
          </a:xfrm>
          <a:prstGeom prst="roundRect">
            <a:avLst>
              <a:gd name="adj" fmla="val 8000"/>
            </a:avLst>
          </a:prstGeom>
          <a:solidFill>
            <a:srgbClr val="0D366B"/>
          </a:solidFill>
          <a:ln>
            <a:noFill/>
          </a:ln>
        </p:spPr>
        <p:txBody>
          <a:bodyPr spcFirstLastPara="1" wrap="square" lIns="73150" tIns="36575" rIns="73150" bIns="365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How one run works</a:t>
            </a:r>
            <a:endParaRPr/>
          </a:p>
        </p:txBody>
      </p:sp>
      <p:sp>
        <p:nvSpPr>
          <p:cNvPr id="130" name="Google Shape;130;p15"/>
          <p:cNvSpPr txBox="1"/>
          <p:nvPr/>
        </p:nvSpPr>
        <p:spPr>
          <a:xfrm>
            <a:off x="7818120" y="1783080"/>
            <a:ext cx="3886200" cy="2834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18275" rIns="45700" bIns="18275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0" i="0" u="none" strike="noStrike" cap="non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1. Script creates the 2 hosts + cable</a:t>
            </a:r>
            <a:endParaRPr/>
          </a:p>
          <a:p>
            <a:pPr marL="0" marR="0" lvl="0" indent="0" algn="l" rtl="0">
              <a:spcBef>
                <a:spcPts val="700"/>
              </a:spcBef>
              <a:spcAft>
                <a:spcPts val="0"/>
              </a:spcAft>
              <a:buNone/>
            </a:pPr>
            <a:r>
              <a:rPr lang="en-US" sz="1400" b="0" i="0" u="none" strike="noStrike" cap="non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2. Applies ONE setting (offloads, MTU, loss, congestion control …)</a:t>
            </a:r>
            <a:endParaRPr/>
          </a:p>
          <a:p>
            <a:pPr marL="0" marR="0" lvl="0" indent="0" algn="l" rtl="0">
              <a:spcBef>
                <a:spcPts val="700"/>
              </a:spcBef>
              <a:spcAft>
                <a:spcPts val="0"/>
              </a:spcAft>
              <a:buNone/>
            </a:pPr>
            <a:r>
              <a:rPr lang="en-US" sz="1400" b="0" i="0" u="none" strike="noStrike" cap="non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3. Starts server on CPU2 and client on CPU0 (taskset)</a:t>
            </a:r>
            <a:endParaRPr/>
          </a:p>
          <a:p>
            <a:pPr marL="0" marR="0" lvl="0" indent="0" algn="l" rtl="0">
              <a:spcBef>
                <a:spcPts val="700"/>
              </a:spcBef>
              <a:spcAft>
                <a:spcPts val="0"/>
              </a:spcAft>
              <a:buNone/>
            </a:pPr>
            <a:r>
              <a:rPr lang="en-US" sz="1400" b="0" i="0" u="none" strike="noStrike" cap="non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4. 3 s warm-up ignored, 15 s measured, mpstat logs each CPU</a:t>
            </a:r>
            <a:endParaRPr/>
          </a:p>
          <a:p>
            <a:pPr marL="0" marR="0" lvl="0" indent="0" algn="l" rtl="0">
              <a:spcBef>
                <a:spcPts val="700"/>
              </a:spcBef>
              <a:spcAft>
                <a:spcPts val="0"/>
              </a:spcAft>
              <a:buNone/>
            </a:pPr>
            <a:r>
              <a:rPr lang="en-US" sz="1400" b="0" i="0" u="none" strike="noStrike" cap="non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5. Repeats 3×, random order → analyze.py → graphs → PDF</a:t>
            </a:r>
            <a:endParaRPr/>
          </a:p>
        </p:txBody>
      </p:sp>
      <p:sp>
        <p:nvSpPr>
          <p:cNvPr id="131" name="Google Shape;131;p15"/>
          <p:cNvSpPr/>
          <p:nvPr/>
        </p:nvSpPr>
        <p:spPr>
          <a:xfrm>
            <a:off x="457200" y="4800600"/>
            <a:ext cx="1188720" cy="640080"/>
          </a:xfrm>
          <a:prstGeom prst="roundRect">
            <a:avLst>
              <a:gd name="adj" fmla="val 8000"/>
            </a:avLst>
          </a:prstGeom>
          <a:solidFill>
            <a:srgbClr val="EAF1FB"/>
          </a:solidFill>
          <a:ln w="15875" cap="flat" cmpd="sng">
            <a:solidFill>
              <a:srgbClr val="2A78D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73150" tIns="36575" rIns="73150" bIns="365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write()</a:t>
            </a:r>
            <a:endParaRPr/>
          </a:p>
        </p:txBody>
      </p:sp>
      <p:sp>
        <p:nvSpPr>
          <p:cNvPr id="132" name="Google Shape;132;p15"/>
          <p:cNvSpPr/>
          <p:nvPr/>
        </p:nvSpPr>
        <p:spPr>
          <a:xfrm>
            <a:off x="1673352" y="5029200"/>
            <a:ext cx="128016" cy="182880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5A5A5A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3" name="Google Shape;133;p15"/>
          <p:cNvSpPr/>
          <p:nvPr/>
        </p:nvSpPr>
        <p:spPr>
          <a:xfrm>
            <a:off x="1828800" y="4800600"/>
            <a:ext cx="1417320" cy="640080"/>
          </a:xfrm>
          <a:prstGeom prst="roundRect">
            <a:avLst>
              <a:gd name="adj" fmla="val 8000"/>
            </a:avLst>
          </a:prstGeom>
          <a:solidFill>
            <a:srgbClr val="EAF1FB"/>
          </a:solidFill>
          <a:ln w="15875" cap="flat" cmpd="sng">
            <a:solidFill>
              <a:srgbClr val="2A78D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73150" tIns="36575" rIns="73150" bIns="365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i="0" u="none" strike="noStrike" cap="non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copy user→kernel</a:t>
            </a:r>
            <a:endParaRPr/>
          </a:p>
        </p:txBody>
      </p:sp>
      <p:sp>
        <p:nvSpPr>
          <p:cNvPr id="134" name="Google Shape;134;p15"/>
          <p:cNvSpPr/>
          <p:nvPr/>
        </p:nvSpPr>
        <p:spPr>
          <a:xfrm>
            <a:off x="3273551" y="5029200"/>
            <a:ext cx="128016" cy="182880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5A5A5A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5" name="Google Shape;135;p15"/>
          <p:cNvSpPr/>
          <p:nvPr/>
        </p:nvSpPr>
        <p:spPr>
          <a:xfrm>
            <a:off x="3429000" y="4800600"/>
            <a:ext cx="1188720" cy="640080"/>
          </a:xfrm>
          <a:prstGeom prst="roundRect">
            <a:avLst>
              <a:gd name="adj" fmla="val 8000"/>
            </a:avLst>
          </a:prstGeom>
          <a:solidFill>
            <a:srgbClr val="EAF1FB"/>
          </a:solidFill>
          <a:ln w="15875" cap="flat" cmpd="sng">
            <a:solidFill>
              <a:srgbClr val="2A78D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73150" tIns="36575" rIns="73150" bIns="365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TCP/IP</a:t>
            </a:r>
            <a:endParaRPr/>
          </a:p>
        </p:txBody>
      </p:sp>
      <p:sp>
        <p:nvSpPr>
          <p:cNvPr id="136" name="Google Shape;136;p15"/>
          <p:cNvSpPr/>
          <p:nvPr/>
        </p:nvSpPr>
        <p:spPr>
          <a:xfrm>
            <a:off x="4645152" y="5029200"/>
            <a:ext cx="128016" cy="182880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5A5A5A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7" name="Google Shape;137;p15"/>
          <p:cNvSpPr/>
          <p:nvPr/>
        </p:nvSpPr>
        <p:spPr>
          <a:xfrm>
            <a:off x="4800600" y="4800600"/>
            <a:ext cx="1188720" cy="640080"/>
          </a:xfrm>
          <a:prstGeom prst="roundRect">
            <a:avLst>
              <a:gd name="adj" fmla="val 8000"/>
            </a:avLst>
          </a:prstGeom>
          <a:solidFill>
            <a:srgbClr val="EAF1FB"/>
          </a:solidFill>
          <a:ln w="15875" cap="flat" cmpd="sng">
            <a:solidFill>
              <a:srgbClr val="2A78D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73150" tIns="36575" rIns="73150" bIns="365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GSO / TSO</a:t>
            </a:r>
            <a:endParaRPr/>
          </a:p>
        </p:txBody>
      </p:sp>
      <p:sp>
        <p:nvSpPr>
          <p:cNvPr id="138" name="Google Shape;138;p15"/>
          <p:cNvSpPr/>
          <p:nvPr/>
        </p:nvSpPr>
        <p:spPr>
          <a:xfrm>
            <a:off x="6016752" y="5029200"/>
            <a:ext cx="128016" cy="182880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5A5A5A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9" name="Google Shape;139;p15"/>
          <p:cNvSpPr/>
          <p:nvPr/>
        </p:nvSpPr>
        <p:spPr>
          <a:xfrm>
            <a:off x="6172200" y="4800600"/>
            <a:ext cx="1188720" cy="640080"/>
          </a:xfrm>
          <a:prstGeom prst="roundRect">
            <a:avLst>
              <a:gd name="adj" fmla="val 8000"/>
            </a:avLst>
          </a:prstGeom>
          <a:solidFill>
            <a:srgbClr val="F4F4F2"/>
          </a:solidFill>
          <a:ln w="15875" cap="flat" cmpd="sng">
            <a:solidFill>
              <a:srgbClr val="BDBCB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73150" tIns="36575" rIns="73150" bIns="365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veth</a:t>
            </a:r>
            <a:endParaRPr/>
          </a:p>
        </p:txBody>
      </p:sp>
      <p:sp>
        <p:nvSpPr>
          <p:cNvPr id="140" name="Google Shape;140;p15"/>
          <p:cNvSpPr/>
          <p:nvPr/>
        </p:nvSpPr>
        <p:spPr>
          <a:xfrm>
            <a:off x="7388352" y="5029200"/>
            <a:ext cx="128016" cy="182880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5A5A5A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1" name="Google Shape;141;p15"/>
          <p:cNvSpPr/>
          <p:nvPr/>
        </p:nvSpPr>
        <p:spPr>
          <a:xfrm>
            <a:off x="7543800" y="4800600"/>
            <a:ext cx="1417320" cy="640080"/>
          </a:xfrm>
          <a:prstGeom prst="roundRect">
            <a:avLst>
              <a:gd name="adj" fmla="val 8000"/>
            </a:avLst>
          </a:prstGeom>
          <a:solidFill>
            <a:srgbClr val="FDF1EC"/>
          </a:solidFill>
          <a:ln w="15875" cap="flat" cmpd="sng">
            <a:solidFill>
              <a:srgbClr val="EB683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73150" tIns="36575" rIns="73150" bIns="365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receive + TCP (softirq)</a:t>
            </a:r>
            <a:endParaRPr/>
          </a:p>
        </p:txBody>
      </p:sp>
      <p:sp>
        <p:nvSpPr>
          <p:cNvPr id="142" name="Google Shape;142;p15"/>
          <p:cNvSpPr/>
          <p:nvPr/>
        </p:nvSpPr>
        <p:spPr>
          <a:xfrm>
            <a:off x="8988552" y="5029200"/>
            <a:ext cx="128016" cy="182880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5A5A5A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3" name="Google Shape;143;p15"/>
          <p:cNvSpPr/>
          <p:nvPr/>
        </p:nvSpPr>
        <p:spPr>
          <a:xfrm>
            <a:off x="9144000" y="4800600"/>
            <a:ext cx="1417320" cy="640080"/>
          </a:xfrm>
          <a:prstGeom prst="roundRect">
            <a:avLst>
              <a:gd name="adj" fmla="val 8000"/>
            </a:avLst>
          </a:prstGeom>
          <a:solidFill>
            <a:srgbClr val="FDF1EC"/>
          </a:solidFill>
          <a:ln w="15875" cap="flat" cmpd="sng">
            <a:solidFill>
              <a:srgbClr val="EB683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73150" tIns="36575" rIns="73150" bIns="365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i="0" u="none" strike="noStrike" cap="non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copy kernel→user</a:t>
            </a:r>
            <a:endParaRPr/>
          </a:p>
        </p:txBody>
      </p:sp>
      <p:sp>
        <p:nvSpPr>
          <p:cNvPr id="144" name="Google Shape;144;p15"/>
          <p:cNvSpPr/>
          <p:nvPr/>
        </p:nvSpPr>
        <p:spPr>
          <a:xfrm>
            <a:off x="10588752" y="5029200"/>
            <a:ext cx="128016" cy="182880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5A5A5A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5" name="Google Shape;145;p15"/>
          <p:cNvSpPr/>
          <p:nvPr/>
        </p:nvSpPr>
        <p:spPr>
          <a:xfrm>
            <a:off x="10744200" y="4800600"/>
            <a:ext cx="1188720" cy="640080"/>
          </a:xfrm>
          <a:prstGeom prst="roundRect">
            <a:avLst>
              <a:gd name="adj" fmla="val 8000"/>
            </a:avLst>
          </a:prstGeom>
          <a:solidFill>
            <a:srgbClr val="FDF1EC"/>
          </a:solidFill>
          <a:ln w="15875" cap="flat" cmpd="sng">
            <a:solidFill>
              <a:srgbClr val="EB683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73150" tIns="36575" rIns="73150" bIns="365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read()</a:t>
            </a:r>
            <a:endParaRPr/>
          </a:p>
        </p:txBody>
      </p:sp>
      <p:sp>
        <p:nvSpPr>
          <p:cNvPr id="146" name="Google Shape;146;p15"/>
          <p:cNvSpPr txBox="1"/>
          <p:nvPr/>
        </p:nvSpPr>
        <p:spPr>
          <a:xfrm>
            <a:off x="457200" y="5532120"/>
            <a:ext cx="11247120" cy="7772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18275" rIns="45700" bIns="18275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1" i="0" u="none" strike="noStrike" cap="non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Path of one byte: </a:t>
            </a:r>
            <a:r>
              <a:rPr lang="en-US" sz="1400" b="0" i="0" u="none" strike="noStrike" cap="non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one data copy at each side; everything else works on packet descriptors (skbs).  </a:t>
            </a:r>
            <a:r>
              <a:rPr lang="en-US" sz="1400" b="1" i="0" u="none" strike="noStrike" cap="non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Key mechanism difference: </a:t>
            </a:r>
            <a:r>
              <a:rPr lang="en-US" sz="1400" b="0" i="0" u="none" strike="noStrike" cap="non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veth does the receiver's packet processing on the SENDING CPU → our sender core is the bottleneck (paper: the receiver).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p16"/>
          <p:cNvSpPr txBox="1"/>
          <p:nvPr/>
        </p:nvSpPr>
        <p:spPr>
          <a:xfrm>
            <a:off x="457200" y="256032"/>
            <a:ext cx="11247120" cy="6400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18275" rIns="45700" bIns="18275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 b="1" i="0" u="none" strike="noStrike" cap="none">
                <a:solidFill>
                  <a:srgbClr val="0D366B"/>
                </a:solidFill>
                <a:latin typeface="Calibri"/>
                <a:ea typeface="Calibri"/>
                <a:cs typeface="Calibri"/>
                <a:sym typeface="Calibri"/>
              </a:rPr>
              <a:t>Extension / Issues Fixed / Evaluation</a:t>
            </a:r>
            <a:endParaRPr/>
          </a:p>
        </p:txBody>
      </p:sp>
      <p:sp>
        <p:nvSpPr>
          <p:cNvPr id="153" name="Google Shape;153;p16"/>
          <p:cNvSpPr/>
          <p:nvPr/>
        </p:nvSpPr>
        <p:spPr>
          <a:xfrm>
            <a:off x="502920" y="932688"/>
            <a:ext cx="1280160" cy="54864"/>
          </a:xfrm>
          <a:prstGeom prst="rect">
            <a:avLst/>
          </a:prstGeom>
          <a:solidFill>
            <a:srgbClr val="2A78D6"/>
          </a:solidFill>
          <a:ln>
            <a:noFill/>
          </a:ln>
          <a:effectLst>
            <a:outerShdw blurRad="40000" dist="23000" dir="5400000" rotWithShape="0">
              <a:srgbClr val="000000">
                <a:alpha val="34902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4" name="Google Shape;154;p16"/>
          <p:cNvSpPr txBox="1"/>
          <p:nvPr/>
        </p:nvSpPr>
        <p:spPr>
          <a:xfrm>
            <a:off x="10789920" y="6419088"/>
            <a:ext cx="9144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18275" rIns="45700" bIns="18275" anchor="t" anchorCtr="0">
            <a:sp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0" i="0" u="none" strike="noStrike" cap="none">
                <a:solidFill>
                  <a:srgbClr val="5A5A5A"/>
                </a:solidFill>
                <a:latin typeface="Calibri"/>
                <a:ea typeface="Calibri"/>
                <a:cs typeface="Calibri"/>
                <a:sym typeface="Calibri"/>
              </a:rPr>
              <a:t>4 / 6</a:t>
            </a:r>
            <a:endParaRPr/>
          </a:p>
        </p:txBody>
      </p:sp>
      <p:sp>
        <p:nvSpPr>
          <p:cNvPr id="155" name="Google Shape;155;p16"/>
          <p:cNvSpPr/>
          <p:nvPr/>
        </p:nvSpPr>
        <p:spPr>
          <a:xfrm>
            <a:off x="457200" y="1234440"/>
            <a:ext cx="3657600" cy="384048"/>
          </a:xfrm>
          <a:prstGeom prst="roundRect">
            <a:avLst>
              <a:gd name="adj" fmla="val 8000"/>
            </a:avLst>
          </a:prstGeom>
          <a:solidFill>
            <a:srgbClr val="1B8F64"/>
          </a:solidFill>
          <a:ln>
            <a:noFill/>
          </a:ln>
        </p:spPr>
        <p:txBody>
          <a:bodyPr spcFirstLastPara="1" wrap="square" lIns="73150" tIns="36575" rIns="73150" bIns="365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What we added (extension)</a:t>
            </a:r>
            <a:endParaRPr/>
          </a:p>
        </p:txBody>
      </p:sp>
      <p:sp>
        <p:nvSpPr>
          <p:cNvPr id="156" name="Google Shape;156;p16"/>
          <p:cNvSpPr txBox="1"/>
          <p:nvPr/>
        </p:nvSpPr>
        <p:spPr>
          <a:xfrm>
            <a:off x="457200" y="1664208"/>
            <a:ext cx="3657600" cy="20116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18275" rIns="45700" bIns="18275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50" b="1" i="0" u="none" strike="noStrike" cap="non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One script per paper section </a:t>
            </a:r>
            <a:r>
              <a:rPr lang="en-US" sz="1250" b="0" i="0" u="none" strike="noStrike" cap="non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+ shared code</a:t>
            </a:r>
            <a:endParaRPr/>
          </a:p>
          <a:p>
            <a:pPr marL="0" marR="0" lvl="0" indent="0" algn="l" rtl="0">
              <a:spcBef>
                <a:spcPts val="500"/>
              </a:spcBef>
              <a:spcAft>
                <a:spcPts val="0"/>
              </a:spcAft>
              <a:buNone/>
            </a:pPr>
            <a:r>
              <a:rPr lang="en-US" sz="1250" b="1" i="0" u="none" strike="noStrike" cap="non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Throughput per core </a:t>
            </a:r>
            <a:r>
              <a:rPr lang="en-US" sz="1250" b="0" i="0" u="none" strike="noStrike" cap="non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from per-CPU logs (paper's metric)</a:t>
            </a:r>
            <a:endParaRPr/>
          </a:p>
          <a:p>
            <a:pPr marL="0" marR="0" lvl="0" indent="0" algn="l" rtl="0">
              <a:spcBef>
                <a:spcPts val="500"/>
              </a:spcBef>
              <a:spcAft>
                <a:spcPts val="0"/>
              </a:spcAft>
              <a:buNone/>
            </a:pPr>
            <a:r>
              <a:rPr lang="en-US" sz="1250" b="1" i="0" u="none" strike="noStrike" cap="non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Step-by-step optimisations </a:t>
            </a:r>
            <a:r>
              <a:rPr lang="en-US" sz="1250" b="0" i="0" u="none" strike="noStrike" cap="non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(Fig. 3a), buffers (Fig. 3e), 1 → 8 flows per core (Figs. 6, 7)</a:t>
            </a:r>
            <a:endParaRPr/>
          </a:p>
          <a:p>
            <a:pPr marL="0" marR="0" lvl="0" indent="0" algn="l" rtl="0">
              <a:spcBef>
                <a:spcPts val="500"/>
              </a:spcBef>
              <a:spcAft>
                <a:spcPts val="0"/>
              </a:spcAft>
              <a:buNone/>
            </a:pPr>
            <a:r>
              <a:rPr lang="en-US" sz="1250" b="1" i="0" u="none" strike="noStrike" cap="non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Automatic checks: </a:t>
            </a:r>
            <a:r>
              <a:rPr lang="en-US" sz="1250" b="0" i="0" u="none" strike="noStrike" cap="non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measured loss, live congestion control, offloads</a:t>
            </a:r>
            <a:endParaRPr/>
          </a:p>
          <a:p>
            <a:pPr marL="0" marR="0" lvl="0" indent="0" algn="l" rtl="0">
              <a:spcBef>
                <a:spcPts val="500"/>
              </a:spcBef>
              <a:spcAft>
                <a:spcPts val="0"/>
              </a:spcAft>
              <a:buNone/>
            </a:pPr>
            <a:r>
              <a:rPr lang="en-US" sz="1250" b="1" i="0" u="none" strike="noStrike" cap="non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perf CPU breakdown </a:t>
            </a:r>
            <a:r>
              <a:rPr lang="en-US" sz="1250" b="0" i="0" u="none" strike="noStrike" cap="non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(Table 1), graphs, report, demo script</a:t>
            </a:r>
            <a:endParaRPr/>
          </a:p>
        </p:txBody>
      </p:sp>
      <p:sp>
        <p:nvSpPr>
          <p:cNvPr id="157" name="Google Shape;157;p16"/>
          <p:cNvSpPr/>
          <p:nvPr/>
        </p:nvSpPr>
        <p:spPr>
          <a:xfrm>
            <a:off x="457200" y="3703320"/>
            <a:ext cx="3657600" cy="384048"/>
          </a:xfrm>
          <a:prstGeom prst="roundRect">
            <a:avLst>
              <a:gd name="adj" fmla="val 8000"/>
            </a:avLst>
          </a:prstGeom>
          <a:solidFill>
            <a:srgbClr val="EB6834"/>
          </a:solidFill>
          <a:ln>
            <a:noFill/>
          </a:ln>
        </p:spPr>
        <p:txBody>
          <a:bodyPr spcFirstLastPara="1" wrap="square" lIns="73150" tIns="36575" rIns="73150" bIns="365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Issues fixed in the first version</a:t>
            </a:r>
            <a:endParaRPr/>
          </a:p>
        </p:txBody>
      </p:sp>
      <p:graphicFrame>
        <p:nvGraphicFramePr>
          <p:cNvPr id="158" name="Google Shape;158;p16"/>
          <p:cNvGraphicFramePr/>
          <p:nvPr/>
        </p:nvGraphicFramePr>
        <p:xfrm>
          <a:off x="457200" y="4133087"/>
          <a:ext cx="3657600" cy="2103125"/>
        </p:xfrm>
        <a:graphic>
          <a:graphicData uri="http://schemas.openxmlformats.org/drawingml/2006/table">
            <a:tbl>
              <a:tblPr firstRow="1" bandRow="1">
                <a:noFill/>
                <a:tableStyleId>{C780C881-244E-495A-AA88-AEA6F43F6431}</a:tableStyleId>
              </a:tblPr>
              <a:tblGrid>
                <a:gridCol w="19659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916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2062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b="1" u="none" strike="noStrike" cap="non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Issue</a:t>
                      </a:r>
                      <a:endParaRPr/>
                    </a:p>
                  </a:txBody>
                  <a:tcPr marL="73150" marR="73150" marT="36575" marB="36575" anchor="ctr">
                    <a:solidFill>
                      <a:srgbClr val="0D366B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b="1" u="none" strike="noStrike" cap="non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Fix</a:t>
                      </a:r>
                      <a:endParaRPr/>
                    </a:p>
                  </a:txBody>
                  <a:tcPr marL="73150" marR="73150" marT="36575" marB="36575" anchor="ctr">
                    <a:solidFill>
                      <a:srgbClr val="0D366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2062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b="1" u="none" strike="noStrike" cap="none">
                          <a:solidFill>
                            <a:srgbClr val="1A1A1A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Paper's metric never computed</a:t>
                      </a:r>
                      <a:endParaRPr/>
                    </a:p>
                  </a:txBody>
                  <a:tcPr marL="73150" marR="73150" marT="36575" marB="365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b="0" u="none" strike="noStrike" cap="none">
                          <a:solidFill>
                            <a:srgbClr val="1A1A1A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Per-core CPU from mpstat</a:t>
                      </a:r>
                      <a:endParaRPr/>
                    </a:p>
                  </a:txBody>
                  <a:tcPr marL="73150" marR="73150" marT="36575" marB="36575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2062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b="1" u="none" strike="noStrike" cap="none">
                          <a:solidFill>
                            <a:srgbClr val="1A1A1A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CPU taken from iperf3's own process</a:t>
                      </a:r>
                      <a:endParaRPr/>
                    </a:p>
                  </a:txBody>
                  <a:tcPr marL="73150" marR="73150" marT="36575" marB="36575" anchor="ctr">
                    <a:solidFill>
                      <a:srgbClr val="F4F4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b="0" u="none" strike="noStrike" cap="none">
                          <a:solidFill>
                            <a:srgbClr val="1A1A1A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Every CPU measured</a:t>
                      </a:r>
                      <a:endParaRPr/>
                    </a:p>
                  </a:txBody>
                  <a:tcPr marL="73150" marR="73150" marT="36575" marB="36575" anchor="ctr">
                    <a:solidFill>
                      <a:srgbClr val="F4F4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2062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b="1" u="none" strike="noStrike" cap="none">
                          <a:solidFill>
                            <a:srgbClr val="1A1A1A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Loss counters added up across runs</a:t>
                      </a:r>
                      <a:endParaRPr/>
                    </a:p>
                  </a:txBody>
                  <a:tcPr marL="73150" marR="73150" marT="36575" marB="365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b="0" u="none" strike="noStrike" cap="none">
                          <a:solidFill>
                            <a:srgbClr val="1A1A1A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Fresh queue; loss measured</a:t>
                      </a:r>
                      <a:endParaRPr/>
                    </a:p>
                  </a:txBody>
                  <a:tcPr marL="73150" marR="73150" marT="36575" marB="36575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2062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b="1" u="none" strike="noStrike" cap="none">
                          <a:solidFill>
                            <a:srgbClr val="1A1A1A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Setup by hand; aborted runs mixed in</a:t>
                      </a:r>
                      <a:endParaRPr/>
                    </a:p>
                  </a:txBody>
                  <a:tcPr marL="73150" marR="73150" marT="36575" marB="36575" anchor="ctr">
                    <a:solidFill>
                      <a:srgbClr val="F4F4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b="0" u="none" strike="noStrike" cap="none">
                          <a:solidFill>
                            <a:srgbClr val="1A1A1A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Scripts + COMPLETED marker</a:t>
                      </a:r>
                      <a:endParaRPr/>
                    </a:p>
                  </a:txBody>
                  <a:tcPr marL="73150" marR="73150" marT="36575" marB="36575" anchor="ctr">
                    <a:solidFill>
                      <a:srgbClr val="F4F4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159" name="Google Shape;159;p16"/>
          <p:cNvSpPr/>
          <p:nvPr/>
        </p:nvSpPr>
        <p:spPr>
          <a:xfrm>
            <a:off x="4343400" y="1234440"/>
            <a:ext cx="7406640" cy="384048"/>
          </a:xfrm>
          <a:prstGeom prst="roundRect">
            <a:avLst>
              <a:gd name="adj" fmla="val 8000"/>
            </a:avLst>
          </a:prstGeom>
          <a:solidFill>
            <a:srgbClr val="0D366B"/>
          </a:solidFill>
          <a:ln>
            <a:noFill/>
          </a:ln>
        </p:spPr>
        <p:txBody>
          <a:bodyPr spcFirstLastPara="1" wrap="square" lIns="73150" tIns="36575" rIns="73150" bIns="365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Evaluation: main results (mean of 3 runs)</a:t>
            </a:r>
            <a:endParaRPr/>
          </a:p>
        </p:txBody>
      </p:sp>
      <p:pic>
        <p:nvPicPr>
          <p:cNvPr id="160" name="Google Shape;160;p16" descr="offloads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4343400" y="1691640"/>
            <a:ext cx="3465653" cy="2194560"/>
          </a:xfrm>
          <a:prstGeom prst="rect">
            <a:avLst/>
          </a:prstGeom>
          <a:noFill/>
          <a:ln>
            <a:noFill/>
          </a:ln>
        </p:spPr>
      </p:pic>
      <p:pic>
        <p:nvPicPr>
          <p:cNvPr id="161" name="Google Shape;161;p16" descr="patterns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8156448" y="1691640"/>
            <a:ext cx="3465653" cy="2194560"/>
          </a:xfrm>
          <a:prstGeom prst="rect">
            <a:avLst/>
          </a:prstGeom>
          <a:noFill/>
          <a:ln>
            <a:noFill/>
          </a:ln>
        </p:spPr>
      </p:pic>
      <p:sp>
        <p:nvSpPr>
          <p:cNvPr id="162" name="Google Shape;162;p16"/>
          <p:cNvSpPr/>
          <p:nvPr/>
        </p:nvSpPr>
        <p:spPr>
          <a:xfrm>
            <a:off x="4343400" y="4023360"/>
            <a:ext cx="1746504" cy="11887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 cap="flat" cmpd="sng">
            <a:solidFill>
              <a:srgbClr val="BDBCB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73150" tIns="36575" rIns="73150" bIns="365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50" b="1" i="0" u="none" strike="noStrike" cap="none">
                <a:solidFill>
                  <a:srgbClr val="5A5A5A"/>
                </a:solidFill>
                <a:latin typeface="Calibri"/>
                <a:ea typeface="Calibri"/>
                <a:cs typeface="Calibri"/>
                <a:sym typeface="Calibri"/>
              </a:rPr>
              <a:t>Packet loss 1.5 %</a:t>
            </a:r>
            <a:endParaRPr/>
          </a:p>
          <a:p>
            <a:pPr marL="0" marR="0" lvl="0" indent="0" algn="ctr" rtl="0">
              <a:spcBef>
                <a:spcPts val="40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0D366B"/>
                </a:solidFill>
                <a:latin typeface="Calibri"/>
                <a:ea typeface="Calibri"/>
                <a:cs typeface="Calibri"/>
                <a:sym typeface="Calibri"/>
              </a:rPr>
              <a:t>-27 % throughput</a:t>
            </a:r>
            <a:endParaRPr/>
          </a:p>
          <a:p>
            <a:pPr marL="0" marR="0" lvl="0" indent="0" algn="ctr" rtl="0">
              <a:spcBef>
                <a:spcPts val="400"/>
              </a:spcBef>
              <a:spcAft>
                <a:spcPts val="0"/>
              </a:spcAft>
              <a:buNone/>
            </a:pPr>
            <a:r>
              <a:rPr lang="en-US" sz="1050" b="0" i="0" u="none" strike="noStrike" cap="none">
                <a:solidFill>
                  <a:srgbClr val="5A5A5A"/>
                </a:solidFill>
                <a:latin typeface="Calibri"/>
                <a:ea typeface="Calibri"/>
                <a:cs typeface="Calibri"/>
                <a:sym typeface="Calibri"/>
              </a:rPr>
              <a:t>measured loss = configured</a:t>
            </a:r>
            <a:endParaRPr/>
          </a:p>
        </p:txBody>
      </p:sp>
      <p:sp>
        <p:nvSpPr>
          <p:cNvPr id="163" name="Google Shape;163;p16"/>
          <p:cNvSpPr/>
          <p:nvPr/>
        </p:nvSpPr>
        <p:spPr>
          <a:xfrm>
            <a:off x="6227064" y="4023360"/>
            <a:ext cx="1746504" cy="11887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 cap="flat" cmpd="sng">
            <a:solidFill>
              <a:srgbClr val="BDBCB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73150" tIns="36575" rIns="73150" bIns="365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50" b="1" i="0" u="none" strike="noStrike" cap="none">
                <a:solidFill>
                  <a:srgbClr val="5A5A5A"/>
                </a:solidFill>
                <a:latin typeface="Calibri"/>
                <a:ea typeface="Calibri"/>
                <a:cs typeface="Calibri"/>
                <a:sym typeface="Calibri"/>
              </a:rPr>
              <a:t>Message size</a:t>
            </a:r>
            <a:endParaRPr/>
          </a:p>
          <a:p>
            <a:pPr marL="0" marR="0" lvl="0" indent="0" algn="ctr" rtl="0">
              <a:spcBef>
                <a:spcPts val="40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0D366B"/>
                </a:solidFill>
                <a:latin typeface="Calibri"/>
                <a:ea typeface="Calibri"/>
                <a:cs typeface="Calibri"/>
                <a:sym typeface="Calibri"/>
              </a:rPr>
              <a:t>4 KB: 9 → 64 KB: 68</a:t>
            </a:r>
            <a:endParaRPr/>
          </a:p>
          <a:p>
            <a:pPr marL="0" marR="0" lvl="0" indent="0" algn="ctr" rtl="0">
              <a:spcBef>
                <a:spcPts val="400"/>
              </a:spcBef>
              <a:spcAft>
                <a:spcPts val="0"/>
              </a:spcAft>
              <a:buNone/>
            </a:pPr>
            <a:r>
              <a:rPr lang="en-US" sz="1050" b="0" i="0" u="none" strike="noStrike" cap="none">
                <a:solidFill>
                  <a:srgbClr val="5A5A5A"/>
                </a:solidFill>
                <a:latin typeface="Calibri"/>
                <a:ea typeface="Calibri"/>
                <a:cs typeface="Calibri"/>
                <a:sym typeface="Calibri"/>
              </a:rPr>
              <a:t>Gbps per busy core</a:t>
            </a:r>
            <a:endParaRPr/>
          </a:p>
        </p:txBody>
      </p:sp>
      <p:sp>
        <p:nvSpPr>
          <p:cNvPr id="164" name="Google Shape;164;p16"/>
          <p:cNvSpPr/>
          <p:nvPr/>
        </p:nvSpPr>
        <p:spPr>
          <a:xfrm>
            <a:off x="8110728" y="4023360"/>
            <a:ext cx="1746504" cy="11887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 cap="flat" cmpd="sng">
            <a:solidFill>
              <a:srgbClr val="BDBCB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73150" tIns="36575" rIns="73150" bIns="365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50" b="1" i="0" u="none" strike="noStrike" cap="none">
                <a:solidFill>
                  <a:srgbClr val="5A5A5A"/>
                </a:solidFill>
                <a:latin typeface="Calibri"/>
                <a:ea typeface="Calibri"/>
                <a:cs typeface="Calibri"/>
                <a:sym typeface="Calibri"/>
              </a:rPr>
              <a:t>Long + 16 short flows</a:t>
            </a:r>
            <a:endParaRPr/>
          </a:p>
          <a:p>
            <a:pPr marL="0" marR="0" lvl="0" indent="0" algn="ctr" rtl="0">
              <a:spcBef>
                <a:spcPts val="40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0D366B"/>
                </a:solidFill>
                <a:latin typeface="Calibri"/>
                <a:ea typeface="Calibri"/>
                <a:cs typeface="Calibri"/>
                <a:sym typeface="Calibri"/>
              </a:rPr>
              <a:t>long flow -90 %</a:t>
            </a:r>
            <a:endParaRPr/>
          </a:p>
          <a:p>
            <a:pPr marL="0" marR="0" lvl="0" indent="0" algn="ctr" rtl="0">
              <a:spcBef>
                <a:spcPts val="400"/>
              </a:spcBef>
              <a:spcAft>
                <a:spcPts val="0"/>
              </a:spcAft>
              <a:buNone/>
            </a:pPr>
            <a:r>
              <a:rPr lang="en-US" sz="1050" b="0" i="0" u="none" strike="noStrike" cap="none">
                <a:solidFill>
                  <a:srgbClr val="5A5A5A"/>
                </a:solidFill>
                <a:latin typeface="Calibri"/>
                <a:ea typeface="Calibri"/>
                <a:cs typeface="Calibri"/>
                <a:sym typeface="Calibri"/>
              </a:rPr>
              <a:t>short flows -11 %</a:t>
            </a:r>
            <a:endParaRPr/>
          </a:p>
        </p:txBody>
      </p:sp>
      <p:sp>
        <p:nvSpPr>
          <p:cNvPr id="165" name="Google Shape;165;p16"/>
          <p:cNvSpPr/>
          <p:nvPr/>
        </p:nvSpPr>
        <p:spPr>
          <a:xfrm>
            <a:off x="9994392" y="4023360"/>
            <a:ext cx="1746504" cy="11887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 cap="flat" cmpd="sng">
            <a:solidFill>
              <a:srgbClr val="BDBCB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73150" tIns="36575" rIns="73150" bIns="365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50" b="1" i="0" u="none" strike="noStrike" cap="none">
                <a:solidFill>
                  <a:srgbClr val="5A5A5A"/>
                </a:solidFill>
                <a:latin typeface="Calibri"/>
                <a:ea typeface="Calibri"/>
                <a:cs typeface="Calibri"/>
                <a:sym typeface="Calibri"/>
              </a:rPr>
              <a:t>Congestion control</a:t>
            </a:r>
            <a:endParaRPr/>
          </a:p>
          <a:p>
            <a:pPr marL="0" marR="0" lvl="0" indent="0" algn="ctr" rtl="0">
              <a:spcBef>
                <a:spcPts val="40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0D366B"/>
                </a:solidFill>
                <a:latin typeface="Calibri"/>
                <a:ea typeface="Calibri"/>
                <a:cs typeface="Calibri"/>
                <a:sym typeface="Calibri"/>
              </a:rPr>
              <a:t>BBR -33 % vs CUBIC</a:t>
            </a:r>
            <a:endParaRPr/>
          </a:p>
          <a:p>
            <a:pPr marL="0" marR="0" lvl="0" indent="0" algn="ctr" rtl="0">
              <a:spcBef>
                <a:spcPts val="400"/>
              </a:spcBef>
              <a:spcAft>
                <a:spcPts val="0"/>
              </a:spcAft>
              <a:buNone/>
            </a:pPr>
            <a:r>
              <a:rPr lang="en-US" sz="1050" b="0" i="0" u="none" strike="noStrike" cap="none">
                <a:solidFill>
                  <a:srgbClr val="5A5A5A"/>
                </a:solidFill>
                <a:latin typeface="Calibri"/>
                <a:ea typeface="Calibri"/>
                <a:cs typeface="Calibri"/>
                <a:sym typeface="Calibri"/>
              </a:rPr>
              <a:t>DCTCP ≈ CUBIC</a:t>
            </a:r>
            <a:endParaRPr/>
          </a:p>
        </p:txBody>
      </p:sp>
      <p:sp>
        <p:nvSpPr>
          <p:cNvPr id="166" name="Google Shape;166;p16"/>
          <p:cNvSpPr/>
          <p:nvPr/>
        </p:nvSpPr>
        <p:spPr>
          <a:xfrm>
            <a:off x="4343400" y="5349240"/>
            <a:ext cx="7406640" cy="822960"/>
          </a:xfrm>
          <a:prstGeom prst="roundRect">
            <a:avLst>
              <a:gd name="adj" fmla="val 8000"/>
            </a:avLst>
          </a:prstGeom>
          <a:solidFill>
            <a:srgbClr val="EAF1FB"/>
          </a:solidFill>
          <a:ln w="15875" cap="flat" cmpd="sng">
            <a:solidFill>
              <a:srgbClr val="2A78D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73150" tIns="36575" rIns="73150" bIns="36575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50" b="1" i="0" u="none" strike="noStrike" cap="non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Takeaway: </a:t>
            </a:r>
            <a:r>
              <a:rPr lang="en-US" sz="1250" b="0" i="0" u="none" strike="noStrike" cap="non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offloads give 4.5× more work per core; a second host pair gives only 1.57× (not 2×); on veth the sender core is the bottleneck, so everything that adds work there (loss, pacing, small messages) costs throughput.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p17"/>
          <p:cNvSpPr txBox="1"/>
          <p:nvPr/>
        </p:nvSpPr>
        <p:spPr>
          <a:xfrm>
            <a:off x="457200" y="256032"/>
            <a:ext cx="11247120" cy="6400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18275" rIns="45700" bIns="18275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 b="1" i="0" u="none" strike="noStrike" cap="none">
                <a:solidFill>
                  <a:srgbClr val="0D366B"/>
                </a:solidFill>
                <a:latin typeface="Calibri"/>
                <a:ea typeface="Calibri"/>
                <a:cs typeface="Calibri"/>
                <a:sym typeface="Calibri"/>
              </a:rPr>
              <a:t>Non-Functional Testing Parameters</a:t>
            </a:r>
            <a:endParaRPr/>
          </a:p>
        </p:txBody>
      </p:sp>
      <p:sp>
        <p:nvSpPr>
          <p:cNvPr id="173" name="Google Shape;173;p17"/>
          <p:cNvSpPr/>
          <p:nvPr/>
        </p:nvSpPr>
        <p:spPr>
          <a:xfrm>
            <a:off x="502920" y="932688"/>
            <a:ext cx="1280160" cy="54864"/>
          </a:xfrm>
          <a:prstGeom prst="rect">
            <a:avLst/>
          </a:prstGeom>
          <a:solidFill>
            <a:srgbClr val="2A78D6"/>
          </a:solidFill>
          <a:ln>
            <a:noFill/>
          </a:ln>
          <a:effectLst>
            <a:outerShdw blurRad="40000" dist="23000" dir="5400000" rotWithShape="0">
              <a:srgbClr val="000000">
                <a:alpha val="34902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4" name="Google Shape;174;p17"/>
          <p:cNvSpPr txBox="1"/>
          <p:nvPr/>
        </p:nvSpPr>
        <p:spPr>
          <a:xfrm>
            <a:off x="10789920" y="6419088"/>
            <a:ext cx="9144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18275" rIns="45700" bIns="18275" anchor="t" anchorCtr="0">
            <a:sp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0" i="0" u="none" strike="noStrike" cap="none">
                <a:solidFill>
                  <a:srgbClr val="5A5A5A"/>
                </a:solidFill>
                <a:latin typeface="Calibri"/>
                <a:ea typeface="Calibri"/>
                <a:cs typeface="Calibri"/>
                <a:sym typeface="Calibri"/>
              </a:rPr>
              <a:t>5 / 6</a:t>
            </a:r>
            <a:endParaRPr/>
          </a:p>
        </p:txBody>
      </p:sp>
      <p:graphicFrame>
        <p:nvGraphicFramePr>
          <p:cNvPr id="175" name="Google Shape;175;p17"/>
          <p:cNvGraphicFramePr/>
          <p:nvPr/>
        </p:nvGraphicFramePr>
        <p:xfrm>
          <a:off x="457200" y="1280160"/>
          <a:ext cx="11247125" cy="4608625"/>
        </p:xfrm>
        <a:graphic>
          <a:graphicData uri="http://schemas.openxmlformats.org/drawingml/2006/table">
            <a:tbl>
              <a:tblPr firstRow="1" bandRow="1">
                <a:noFill/>
                <a:tableStyleId>{C780C881-244E-495A-AA88-AEA6F43F6431}</a:tableStyleId>
              </a:tblPr>
              <a:tblGrid>
                <a:gridCol w="21488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2461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92607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92607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65837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1" u="none" strike="noStrike" cap="non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Parameter</a:t>
                      </a:r>
                      <a:endParaRPr/>
                    </a:p>
                  </a:txBody>
                  <a:tcPr marL="73150" marR="73150" marT="36575" marB="36575" anchor="ctr">
                    <a:solidFill>
                      <a:srgbClr val="0D366B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1" u="none" strike="noStrike" cap="non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What we measured</a:t>
                      </a:r>
                      <a:endParaRPr/>
                    </a:p>
                  </a:txBody>
                  <a:tcPr marL="73150" marR="73150" marT="36575" marB="36575" anchor="ctr">
                    <a:solidFill>
                      <a:srgbClr val="0D366B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1" u="none" strike="noStrike" cap="non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How</a:t>
                      </a:r>
                      <a:endParaRPr/>
                    </a:p>
                  </a:txBody>
                  <a:tcPr marL="73150" marR="73150" marT="36575" marB="36575" anchor="ctr">
                    <a:solidFill>
                      <a:srgbClr val="0D366B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1" u="none" strike="noStrike" cap="non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Result</a:t>
                      </a:r>
                      <a:endParaRPr/>
                    </a:p>
                  </a:txBody>
                  <a:tcPr marL="73150" marR="73150" marT="36575" marB="36575" anchor="ctr">
                    <a:solidFill>
                      <a:srgbClr val="0D366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5837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1" u="none" strike="noStrike" cap="none">
                          <a:solidFill>
                            <a:srgbClr val="1A1A1A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Performance</a:t>
                      </a:r>
                      <a:endParaRPr/>
                    </a:p>
                  </a:txBody>
                  <a:tcPr marL="73150" marR="73150" marT="36575" marB="365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0" u="none" strike="noStrike" cap="none">
                          <a:solidFill>
                            <a:srgbClr val="1A1A1A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Throughput (Gbps), transactions per second</a:t>
                      </a:r>
                      <a:endParaRPr/>
                    </a:p>
                  </a:txBody>
                  <a:tcPr marL="73150" marR="73150" marT="36575" marB="365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0" u="none" strike="noStrike" cap="none">
                          <a:solidFill>
                            <a:srgbClr val="1A1A1A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iperf3 / netperf; 3 s warm-up + 15 s</a:t>
                      </a:r>
                      <a:endParaRPr/>
                    </a:p>
                  </a:txBody>
                  <a:tcPr marL="73150" marR="73150" marT="36575" marB="365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0" u="none" strike="noStrike" cap="none">
                          <a:solidFill>
                            <a:srgbClr val="1A1A1A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108 Gbps with 1 flow; 165 Gbps with 4</a:t>
                      </a:r>
                      <a:endParaRPr/>
                    </a:p>
                  </a:txBody>
                  <a:tcPr marL="73150" marR="73150" marT="36575" marB="36575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5837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1" u="none" strike="noStrike" cap="none">
                          <a:solidFill>
                            <a:srgbClr val="1A1A1A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Efficiency</a:t>
                      </a:r>
                      <a:endParaRPr/>
                    </a:p>
                  </a:txBody>
                  <a:tcPr marL="73150" marR="73150" marT="36575" marB="36575" anchor="ctr">
                    <a:solidFill>
                      <a:srgbClr val="F4F4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0" u="none" strike="noStrike" cap="none">
                          <a:solidFill>
                            <a:srgbClr val="1A1A1A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Gbps per busy CPU core (the paper's metric)</a:t>
                      </a:r>
                      <a:endParaRPr/>
                    </a:p>
                  </a:txBody>
                  <a:tcPr marL="73150" marR="73150" marT="36575" marB="36575" anchor="ctr">
                    <a:solidFill>
                      <a:srgbClr val="F4F4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0" u="none" strike="noStrike" cap="none">
                          <a:solidFill>
                            <a:srgbClr val="1A1A1A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mpstat on every core, every second</a:t>
                      </a:r>
                      <a:endParaRPr/>
                    </a:p>
                  </a:txBody>
                  <a:tcPr marL="73150" marR="73150" marT="36575" marB="36575" anchor="ctr">
                    <a:solidFill>
                      <a:srgbClr val="F4F4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0" u="none" strike="noStrike" cap="none">
                          <a:solidFill>
                            <a:srgbClr val="1A1A1A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13.5 → 60.9 with offloads (4.5×)</a:t>
                      </a:r>
                      <a:endParaRPr/>
                    </a:p>
                  </a:txBody>
                  <a:tcPr marL="73150" marR="73150" marT="36575" marB="36575" anchor="ctr">
                    <a:solidFill>
                      <a:srgbClr val="F4F4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5837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1" u="none" strike="noStrike" cap="none">
                          <a:solidFill>
                            <a:srgbClr val="1A1A1A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Scalability</a:t>
                      </a:r>
                      <a:endParaRPr/>
                    </a:p>
                  </a:txBody>
                  <a:tcPr marL="73150" marR="73150" marT="36575" marB="365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0" u="none" strike="noStrike" cap="none">
                          <a:solidFill>
                            <a:srgbClr val="1A1A1A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More cores (1 → 2 pairs); more flows on one core (1 → 8)</a:t>
                      </a:r>
                      <a:endParaRPr/>
                    </a:p>
                  </a:txBody>
                  <a:tcPr marL="73150" marR="73150" marT="36575" marB="365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0" u="none" strike="noStrike" cap="none">
                          <a:solidFill>
                            <a:srgbClr val="1A1A1A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Traffic patterns and flow-count runs</a:t>
                      </a:r>
                      <a:endParaRPr/>
                    </a:p>
                  </a:txBody>
                  <a:tcPr marL="73150" marR="73150" marT="36575" marB="365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0" u="none" strike="noStrike" cap="none">
                          <a:solidFill>
                            <a:srgbClr val="1A1A1A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 pairs = 1.57× one flow; 8 flows on one core -5 %</a:t>
                      </a:r>
                      <a:endParaRPr/>
                    </a:p>
                  </a:txBody>
                  <a:tcPr marL="73150" marR="73150" marT="36575" marB="36575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5837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1" u="none" strike="noStrike" cap="none">
                          <a:solidFill>
                            <a:srgbClr val="1A1A1A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Reliability</a:t>
                      </a:r>
                      <a:endParaRPr/>
                    </a:p>
                  </a:txBody>
                  <a:tcPr marL="73150" marR="73150" marT="36575" marB="36575" anchor="ctr">
                    <a:solidFill>
                      <a:srgbClr val="F4F4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0" u="none" strike="noStrike" cap="none">
                          <a:solidFill>
                            <a:srgbClr val="1A1A1A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Behaviour under random packet loss 0 – 1.5 %</a:t>
                      </a:r>
                      <a:endParaRPr/>
                    </a:p>
                  </a:txBody>
                  <a:tcPr marL="73150" marR="73150" marT="36575" marB="36575" anchor="ctr">
                    <a:solidFill>
                      <a:srgbClr val="F4F4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0" u="none" strike="noStrike" cap="none">
                          <a:solidFill>
                            <a:srgbClr val="1A1A1A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netem drops; drop counters checked</a:t>
                      </a:r>
                      <a:endParaRPr/>
                    </a:p>
                  </a:txBody>
                  <a:tcPr marL="73150" marR="73150" marT="36575" marB="36575" anchor="ctr">
                    <a:solidFill>
                      <a:srgbClr val="F4F4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0" u="none" strike="noStrike" cap="none">
                          <a:solidFill>
                            <a:srgbClr val="1A1A1A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-27 % throughput; loss exact (1.502 %)</a:t>
                      </a:r>
                      <a:endParaRPr/>
                    </a:p>
                  </a:txBody>
                  <a:tcPr marL="73150" marR="73150" marT="36575" marB="36575" anchor="ctr">
                    <a:solidFill>
                      <a:srgbClr val="F4F4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5837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1" u="none" strike="noStrike" cap="none">
                          <a:solidFill>
                            <a:srgbClr val="1A1A1A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Repeatability</a:t>
                      </a:r>
                      <a:endParaRPr/>
                    </a:p>
                  </a:txBody>
                  <a:tcPr marL="73150" marR="73150" marT="36575" marB="365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0" u="none" strike="noStrike" cap="none">
                          <a:solidFill>
                            <a:srgbClr val="1A1A1A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Spread between the 3 runs</a:t>
                      </a:r>
                      <a:endParaRPr/>
                    </a:p>
                  </a:txBody>
                  <a:tcPr marL="73150" marR="73150" marT="36575" marB="365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0" u="none" strike="noStrike" cap="none">
                          <a:solidFill>
                            <a:srgbClr val="1A1A1A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Random order; fresh setup each run</a:t>
                      </a:r>
                      <a:endParaRPr/>
                    </a:p>
                  </a:txBody>
                  <a:tcPr marL="73150" marR="73150" marT="36575" marB="365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0" u="none" strike="noStrike" cap="none">
                          <a:solidFill>
                            <a:srgbClr val="1A1A1A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median 1.4 % of the mean (max 7 %)</a:t>
                      </a:r>
                      <a:endParaRPr/>
                    </a:p>
                  </a:txBody>
                  <a:tcPr marL="73150" marR="73150" marT="36575" marB="36575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65837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1" u="none" strike="noStrike" cap="none">
                          <a:solidFill>
                            <a:srgbClr val="1A1A1A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Measurement validity</a:t>
                      </a:r>
                      <a:endParaRPr/>
                    </a:p>
                  </a:txBody>
                  <a:tcPr marL="73150" marR="73150" marT="36575" marB="36575" anchor="ctr">
                    <a:solidFill>
                      <a:srgbClr val="F4F4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0" u="none" strike="noStrike" cap="none">
                          <a:solidFill>
                            <a:srgbClr val="1A1A1A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Background load; correct settings</a:t>
                      </a:r>
                      <a:endParaRPr/>
                    </a:p>
                  </a:txBody>
                  <a:tcPr marL="73150" marR="73150" marT="36575" marB="36575" anchor="ctr">
                    <a:solidFill>
                      <a:srgbClr val="F4F4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0" u="none" strike="noStrike" cap="none">
                          <a:solidFill>
                            <a:srgbClr val="1A1A1A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Idle baseline; ethtool / ss read-back</a:t>
                      </a:r>
                      <a:endParaRPr/>
                    </a:p>
                  </a:txBody>
                  <a:tcPr marL="73150" marR="73150" marT="36575" marB="36575" anchor="ctr">
                    <a:solidFill>
                      <a:srgbClr val="F4F4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0" u="none" strike="noStrike" cap="none">
                          <a:solidFill>
                            <a:srgbClr val="1A1A1A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1–13 % idle load; disturbed runs repeated</a:t>
                      </a:r>
                      <a:endParaRPr/>
                    </a:p>
                  </a:txBody>
                  <a:tcPr marL="73150" marR="73150" marT="36575" marB="36575" anchor="ctr">
                    <a:solidFill>
                      <a:srgbClr val="F4F4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p18"/>
          <p:cNvSpPr txBox="1"/>
          <p:nvPr/>
        </p:nvSpPr>
        <p:spPr>
          <a:xfrm>
            <a:off x="457200" y="256032"/>
            <a:ext cx="11247120" cy="6400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18275" rIns="45700" bIns="18275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 b="1" i="0" u="none" strike="noStrike" cap="none">
                <a:solidFill>
                  <a:srgbClr val="0D366B"/>
                </a:solidFill>
                <a:latin typeface="Calibri"/>
                <a:ea typeface="Calibri"/>
                <a:cs typeface="Calibri"/>
                <a:sym typeface="Calibri"/>
              </a:rPr>
              <a:t>Challenges Faced</a:t>
            </a:r>
            <a:endParaRPr/>
          </a:p>
        </p:txBody>
      </p:sp>
      <p:sp>
        <p:nvSpPr>
          <p:cNvPr id="182" name="Google Shape;182;p18"/>
          <p:cNvSpPr/>
          <p:nvPr/>
        </p:nvSpPr>
        <p:spPr>
          <a:xfrm>
            <a:off x="502920" y="932688"/>
            <a:ext cx="1280160" cy="54864"/>
          </a:xfrm>
          <a:prstGeom prst="rect">
            <a:avLst/>
          </a:prstGeom>
          <a:solidFill>
            <a:srgbClr val="2A78D6"/>
          </a:solidFill>
          <a:ln>
            <a:noFill/>
          </a:ln>
          <a:effectLst>
            <a:outerShdw blurRad="40000" dist="23000" dir="5400000" rotWithShape="0">
              <a:srgbClr val="000000">
                <a:alpha val="34902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3" name="Google Shape;183;p18"/>
          <p:cNvSpPr txBox="1"/>
          <p:nvPr/>
        </p:nvSpPr>
        <p:spPr>
          <a:xfrm>
            <a:off x="10789920" y="6419088"/>
            <a:ext cx="9144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18275" rIns="45700" bIns="18275" anchor="t" anchorCtr="0">
            <a:sp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0" i="0" u="none" strike="noStrike" cap="none">
                <a:solidFill>
                  <a:srgbClr val="5A5A5A"/>
                </a:solidFill>
                <a:latin typeface="Calibri"/>
                <a:ea typeface="Calibri"/>
                <a:cs typeface="Calibri"/>
                <a:sym typeface="Calibri"/>
              </a:rPr>
              <a:t>6 / 6</a:t>
            </a:r>
            <a:endParaRPr/>
          </a:p>
        </p:txBody>
      </p:sp>
      <p:graphicFrame>
        <p:nvGraphicFramePr>
          <p:cNvPr id="184" name="Google Shape;184;p18"/>
          <p:cNvGraphicFramePr/>
          <p:nvPr/>
        </p:nvGraphicFramePr>
        <p:xfrm>
          <a:off x="457200" y="1280160"/>
          <a:ext cx="11247125" cy="4224500"/>
        </p:xfrm>
        <a:graphic>
          <a:graphicData uri="http://schemas.openxmlformats.org/drawingml/2006/table">
            <a:tbl>
              <a:tblPr firstRow="1" bandRow="1">
                <a:noFill/>
                <a:tableStyleId>{C780C881-244E-495A-AA88-AEA6F43F6431}</a:tableStyleId>
              </a:tblPr>
              <a:tblGrid>
                <a:gridCol w="51206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1264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60350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1" u="none" strike="noStrike" cap="non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Challenge</a:t>
                      </a:r>
                      <a:endParaRPr/>
                    </a:p>
                  </a:txBody>
                  <a:tcPr marL="73150" marR="73150" marT="36575" marB="36575" anchor="ctr">
                    <a:solidFill>
                      <a:srgbClr val="0D366B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1" u="none" strike="noStrike" cap="non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What we did</a:t>
                      </a:r>
                      <a:endParaRPr/>
                    </a:p>
                  </a:txBody>
                  <a:tcPr marL="73150" marR="73150" marT="36575" marB="36575" anchor="ctr">
                    <a:solidFill>
                      <a:srgbClr val="0D366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0350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1" u="none" strike="noStrike" cap="none">
                          <a:solidFill>
                            <a:srgbClr val="1A1A1A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No 100 Gbps hardware, only one laptop</a:t>
                      </a:r>
                      <a:endParaRPr/>
                    </a:p>
                  </a:txBody>
                  <a:tcPr marL="73150" marR="73150" marT="36575" marB="365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0" u="none" strike="noStrike" cap="none">
                          <a:solidFill>
                            <a:srgbClr val="1A1A1A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Two namespaces + veth in one VM: the CPU becomes the bottleneck</a:t>
                      </a:r>
                      <a:endParaRPr/>
                    </a:p>
                  </a:txBody>
                  <a:tcPr marL="73150" marR="73150" marT="36575" marB="36575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0350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1" u="none" strike="noStrike" cap="none">
                          <a:solidFill>
                            <a:srgbClr val="1A1A1A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VM has no DDIO, IOMMU, NUMA or cache counters</a:t>
                      </a:r>
                      <a:endParaRPr/>
                    </a:p>
                  </a:txBody>
                  <a:tcPr marL="73150" marR="73150" marT="36575" marB="36575" anchor="ctr">
                    <a:solidFill>
                      <a:srgbClr val="F4F4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0" u="none" strike="noStrike" cap="none">
                          <a:solidFill>
                            <a:srgbClr val="1A1A1A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Explained why; covered 8 of the paper's 10 sections</a:t>
                      </a:r>
                      <a:endParaRPr/>
                    </a:p>
                  </a:txBody>
                  <a:tcPr marL="73150" marR="73150" marT="36575" marB="36575" anchor="ctr">
                    <a:solidFill>
                      <a:srgbClr val="F4F4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0350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1" u="none" strike="noStrike" cap="none">
                          <a:solidFill>
                            <a:srgbClr val="1A1A1A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veth does receive work on the sender's CPU</a:t>
                      </a:r>
                      <a:endParaRPr/>
                    </a:p>
                  </a:txBody>
                  <a:tcPr marL="73150" marR="73150" marT="36575" marB="365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0" u="none" strike="noStrike" cap="none">
                          <a:solidFill>
                            <a:srgbClr val="1A1A1A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Measured it (64 % softirq on CPU0) and explained each result</a:t>
                      </a:r>
                      <a:endParaRPr/>
                    </a:p>
                  </a:txBody>
                  <a:tcPr marL="73150" marR="73150" marT="36575" marB="36575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0350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1" u="none" strike="noStrike" cap="none">
                          <a:solidFill>
                            <a:srgbClr val="1A1A1A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Other programs disturbed runs (up to 52 % CPU)</a:t>
                      </a:r>
                      <a:endParaRPr/>
                    </a:p>
                  </a:txBody>
                  <a:tcPr marL="73150" marR="73150" marT="36575" marB="36575" anchor="ctr">
                    <a:solidFill>
                      <a:srgbClr val="F4F4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0" u="none" strike="noStrike" cap="none">
                          <a:solidFill>
                            <a:srgbClr val="1A1A1A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Idle baseline, random order, repeated the disturbed runs</a:t>
                      </a:r>
                      <a:endParaRPr/>
                    </a:p>
                  </a:txBody>
                  <a:tcPr marL="73150" marR="73150" marT="36575" marB="36575" anchor="ctr">
                    <a:solidFill>
                      <a:srgbClr val="F4F4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0350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1" u="none" strike="noStrike" cap="none">
                          <a:solidFill>
                            <a:srgbClr val="1A1A1A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Misleading numbers (loss counters, iperf3 CPU, retransmissions at 0 % loss)</a:t>
                      </a:r>
                      <a:endParaRPr/>
                    </a:p>
                  </a:txBody>
                  <a:tcPr marL="73150" marR="73150" marT="36575" marB="365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0" u="none" strike="noStrike" cap="none">
                          <a:solidFill>
                            <a:srgbClr val="1A1A1A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Fresh counters, per-core mpstat; nstat showed reordering, not loss</a:t>
                      </a:r>
                      <a:endParaRPr/>
                    </a:p>
                  </a:txBody>
                  <a:tcPr marL="73150" marR="73150" marT="36575" marB="36575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60350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1" u="none" strike="noStrike" cap="none">
                          <a:solidFill>
                            <a:srgbClr val="1A1A1A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Only 4 CPUs; no sudo for some kernel features</a:t>
                      </a:r>
                      <a:endParaRPr/>
                    </a:p>
                  </a:txBody>
                  <a:tcPr marL="73150" marR="73150" marT="36575" marB="36575" anchor="ctr">
                    <a:solidFill>
                      <a:srgbClr val="F4F4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0" u="none" strike="noStrike" cap="none">
                          <a:solidFill>
                            <a:srgbClr val="1A1A1A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 CPUs per host; BBR/DCTCP, RFS and perf scripted for sudo</a:t>
                      </a:r>
                      <a:endParaRPr/>
                    </a:p>
                  </a:txBody>
                  <a:tcPr marL="73150" marR="73150" marT="36575" marB="36575" anchor="ctr">
                    <a:solidFill>
                      <a:srgbClr val="F4F4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185" name="Google Shape;185;p18"/>
          <p:cNvSpPr/>
          <p:nvPr/>
        </p:nvSpPr>
        <p:spPr>
          <a:xfrm>
            <a:off x="457200" y="5623560"/>
            <a:ext cx="7589520" cy="640080"/>
          </a:xfrm>
          <a:prstGeom prst="roundRect">
            <a:avLst>
              <a:gd name="adj" fmla="val 8000"/>
            </a:avLst>
          </a:prstGeom>
          <a:solidFill>
            <a:srgbClr val="EAF1FB"/>
          </a:solidFill>
          <a:ln w="15875" cap="flat" cmpd="sng">
            <a:solidFill>
              <a:srgbClr val="2A78D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73150" tIns="36575" rIns="73150" bIns="36575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1" i="0" u="none" strike="noStrike" cap="non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Lesson: </a:t>
            </a:r>
            <a:r>
              <a:rPr lang="en-US" sz="1400" b="0" i="0" u="none" strike="noStrike" cap="non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at high speed the host CPU is the bottleneck; how we use the cores matters more than the network.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1131</Words>
  <Application>Microsoft Office PowerPoint</Application>
  <PresentationFormat>Widescreen</PresentationFormat>
  <Paragraphs>146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KUNAL SINGH RATHORE</cp:lastModifiedBy>
  <cp:revision>2</cp:revision>
  <dcterms:modified xsi:type="dcterms:W3CDTF">2026-09-11T09:19:58Z</dcterms:modified>
</cp:coreProperties>
</file>